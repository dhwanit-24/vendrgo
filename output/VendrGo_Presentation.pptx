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moment every hungry person knows: deciding where to go. VendrGo puts the answer in one quick glance: nearby stalls that are open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team bringing VendrGo to life. These bold cards keep the presenter details clear while the guide and college details stay together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flow moves quickly from splash to a personal home screen. People can log in, choose Customer or Vendor when creating an account, verify email, and reset a password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Vendors add the stall name, category, address, opening hours, photos, and live location. The clear timeline then shows Submitted, Admin review, and Approved, with a reason if the admin rejects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vendor moment that matters most. One clear Open or Close control changes what customers see right away, while location, details, photos, and profile controls stay close at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see what needs action first, including stalls waiting for approval. The six quick tiles and illustrative charts make it easy to move between users, stalls, status, categories, favorites, and the summary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decision flow shows the admin review in one glance. Admins can examine vendor information and photos, then choose the right outcome, while user search and role filters stay available for account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manage all stalls from a searchable list with status filters, including Open now. The second panel manages food categories and explains why a category with linked stalls cannot be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journey starts with live location and a one kilometre view of what is nearby. Search, cuisine filters, Open now, and pull to refresh make the feed easy to use when hunger strikes.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makes the nearby area easy to read. A customer can see their position, distinguish open and closed stalls by marker color, then tap any marker to open that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stall page puts the main decision points together: open status, category, distance, address, hours, and the menu photo. When the customer is ready, Get directions opens Google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heart saves a stall for the next visit. Favorites holds those saved places, while the profile keeps the customer name, email, phone, and logout action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VendrGo brings customers, vendors, and admins into one shared picture of local street food. The result is simple: people find open stalls quickly, vendors control visibility, and admins keep quality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joining the VendrGo launch. We are ready for questions about how customers discover stalls, vendors manage status, and admins keep the experience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EA"/>
        </a:solidFill>
      </p:bgPr>
    </p:bg>
    <p:spTree>
      <p:nvGrpSpPr>
        <p:cNvPr id="1" name=""/>
        <p:cNvGrpSpPr/>
        <p:nvPr/>
      </p:nvGrpSpPr>
      <p:grpSpPr>
        <a:xfrm>
          <a:off x="0" y="0"/>
          <a:ext cx="0" cy="0"/>
          <a:chOff x="0" y="0"/>
          <a:chExt cx="0" cy="0"/>
        </a:xfrm>
      </p:grpSpPr>
      <p:sp>
        <p:nvSpPr>
          <p:cNvPr id="2" name="Shape 0"/>
          <p:cNvSpPr/>
          <p:nvPr/>
        </p:nvSpPr>
        <p:spPr>
          <a:xfrm>
            <a:off x="7772400" y="-822960"/>
            <a:ext cx="4572000" cy="4572000"/>
          </a:xfrm>
          <a:prstGeom prst="ellipse">
            <a:avLst/>
          </a:prstGeom>
          <a:solidFill>
            <a:srgbClr val="FFD9C9"/>
          </a:solidFill>
          <a:ln w="12700">
            <a:solidFill>
              <a:srgbClr val="FFD9C9">
                <a:alpha val="0"/>
              </a:srgbClr>
            </a:solidFill>
            <a:prstDash val="solid"/>
          </a:ln>
        </p:spPr>
      </p:sp>
      <p:sp>
        <p:nvSpPr>
          <p:cNvPr id="3" name="Shape 1"/>
          <p:cNvSpPr/>
          <p:nvPr/>
        </p:nvSpPr>
        <p:spPr>
          <a:xfrm>
            <a:off x="-914400" y="4846320"/>
            <a:ext cx="2926080" cy="2926080"/>
          </a:xfrm>
          <a:prstGeom prst="ellipse">
            <a:avLst/>
          </a:prstGeom>
          <a:solidFill>
            <a:srgbClr val="FFE6A8"/>
          </a:solidFill>
          <a:ln w="12700">
            <a:solidFill>
              <a:srgbClr val="FFE6A8">
                <a:alpha val="0"/>
              </a:srgbClr>
            </a:solidFill>
            <a:prstDash val="solid"/>
          </a:ln>
        </p:spPr>
      </p:sp>
      <p:sp>
        <p:nvSpPr>
          <p:cNvPr id="4" name="Shape 2"/>
          <p:cNvSpPr/>
          <p:nvPr/>
        </p:nvSpPr>
        <p:spPr>
          <a:xfrm>
            <a:off x="594360" y="502920"/>
            <a:ext cx="2011680" cy="292608"/>
          </a:xfrm>
          <a:prstGeom prst="roundRect">
            <a:avLst/>
          </a:prstGeom>
          <a:solidFill>
            <a:srgbClr val="FF6B35"/>
          </a:solidFill>
          <a:ln w="12700">
            <a:solidFill>
              <a:srgbClr val="FF6B35">
                <a:alpha val="0"/>
              </a:srgbClr>
            </a:solidFill>
            <a:prstDash val="solid"/>
          </a:ln>
        </p:spPr>
      </p:sp>
      <p:sp>
        <p:nvSpPr>
          <p:cNvPr id="5" name="Text 3"/>
          <p:cNvSpPr/>
          <p:nvPr/>
        </p:nvSpPr>
        <p:spPr>
          <a:xfrm>
            <a:off x="594360" y="553212"/>
            <a:ext cx="201168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STREET FOOD, RIGHT NOW</a:t>
            </a:r>
            <a:endParaRPr lang="en-US" sz="900" dirty="0"/>
          </a:p>
        </p:txBody>
      </p:sp>
      <p:sp>
        <p:nvSpPr>
          <p:cNvPr id="6" name="Text 4"/>
          <p:cNvSpPr/>
          <p:nvPr/>
        </p:nvSpPr>
        <p:spPr>
          <a:xfrm>
            <a:off x="594360" y="1234440"/>
            <a:ext cx="6583680" cy="1234440"/>
          </a:xfrm>
          <a:prstGeom prst="rect">
            <a:avLst/>
          </a:prstGeom>
          <a:noFill/>
          <a:ln/>
        </p:spPr>
        <p:txBody>
          <a:bodyPr wrap="square" lIns="0" tIns="0" rIns="0" bIns="0" rtlCol="0" anchor="ctr"/>
          <a:lstStyle/>
          <a:p>
            <a:pPr indent="0" marL="0">
              <a:buNone/>
            </a:pPr>
            <a:r>
              <a:rPr lang="en-US" sz="3500" b="1" dirty="0">
                <a:solidFill>
                  <a:srgbClr val="1F1F1F"/>
                </a:solidFill>
                <a:latin typeface="Inter" pitchFamily="34" charset="0"/>
                <a:ea typeface="Inter" pitchFamily="34" charset="-122"/>
                <a:cs typeface="Inter" pitchFamily="34" charset="-120"/>
              </a:rPr>
              <a:t>Hungry? What's open</a:t>
            </a:r>
            <a:endParaRPr lang="en-US" sz="3500" dirty="0"/>
          </a:p>
          <a:p>
            <a:pPr indent="0" marL="0">
              <a:buNone/>
            </a:pPr>
            <a:r>
              <a:rPr lang="en-US" sz="3500" b="1" dirty="0">
                <a:solidFill>
                  <a:srgbClr val="1F1F1F"/>
                </a:solidFill>
                <a:latin typeface="Inter" pitchFamily="34" charset="0"/>
                <a:ea typeface="Inter" pitchFamily="34" charset="-122"/>
                <a:cs typeface="Inter" pitchFamily="34" charset="-120"/>
              </a:rPr>
              <a:t>near you right now?</a:t>
            </a:r>
            <a:endParaRPr lang="en-US" sz="3500" dirty="0"/>
          </a:p>
        </p:txBody>
      </p:sp>
      <p:sp>
        <p:nvSpPr>
          <p:cNvPr id="7" name="Text 5"/>
          <p:cNvSpPr/>
          <p:nvPr/>
        </p:nvSpPr>
        <p:spPr>
          <a:xfrm>
            <a:off x="594360" y="2834640"/>
            <a:ext cx="4754880" cy="685800"/>
          </a:xfrm>
          <a:prstGeom prst="rect">
            <a:avLst/>
          </a:prstGeom>
          <a:noFill/>
          <a:ln/>
        </p:spPr>
        <p:txBody>
          <a:bodyPr wrap="square" lIns="0" tIns="0" rIns="0" bIns="0" rtlCol="0" anchor="ctr"/>
          <a:lstStyle/>
          <a:p>
            <a:pPr indent="0" marL="0">
              <a:buNone/>
            </a:pPr>
            <a:r>
              <a:rPr lang="en-US" sz="5400" b="1" dirty="0">
                <a:solidFill>
                  <a:srgbClr val="FF6B35"/>
                </a:solidFill>
                <a:latin typeface="Inter" pitchFamily="34" charset="0"/>
                <a:ea typeface="Inter" pitchFamily="34" charset="-122"/>
                <a:cs typeface="Inter" pitchFamily="34" charset="-120"/>
              </a:rPr>
              <a:t>VendrGo</a:t>
            </a:r>
            <a:endParaRPr lang="en-US" sz="5400" dirty="0"/>
          </a:p>
        </p:txBody>
      </p:sp>
      <p:sp>
        <p:nvSpPr>
          <p:cNvPr id="8" name="Text 6"/>
          <p:cNvSpPr/>
          <p:nvPr/>
        </p:nvSpPr>
        <p:spPr>
          <a:xfrm>
            <a:off x="640080" y="3584448"/>
            <a:ext cx="4846320" cy="274320"/>
          </a:xfrm>
          <a:prstGeom prst="rect">
            <a:avLst/>
          </a:prstGeom>
          <a:noFill/>
          <a:ln/>
        </p:spPr>
        <p:txBody>
          <a:bodyPr wrap="square" lIns="0" tIns="0" rIns="0" bIns="0" rtlCol="0" anchor="ctr"/>
          <a:lstStyle/>
          <a:p>
            <a:pPr indent="0" marL="0">
              <a:buNone/>
            </a:pPr>
            <a:r>
              <a:rPr lang="en-US" sz="2000" b="1" dirty="0">
                <a:solidFill>
                  <a:srgbClr val="CC4009"/>
                </a:solidFill>
                <a:latin typeface="Inter" pitchFamily="34" charset="0"/>
                <a:ea typeface="Inter" pitchFamily="34" charset="-122"/>
                <a:cs typeface="Inter" pitchFamily="34" charset="-120"/>
              </a:rPr>
              <a:t>Find what's open near you.</a:t>
            </a:r>
            <a:endParaRPr lang="en-US" sz="2000" dirty="0"/>
          </a:p>
        </p:txBody>
      </p:sp>
      <p:sp>
        <p:nvSpPr>
          <p:cNvPr id="9" name="Text 7"/>
          <p:cNvSpPr/>
          <p:nvPr/>
        </p:nvSpPr>
        <p:spPr>
          <a:xfrm>
            <a:off x="640080" y="3995928"/>
            <a:ext cx="5212080" cy="256032"/>
          </a:xfrm>
          <a:prstGeom prst="rect">
            <a:avLst/>
          </a:prstGeom>
          <a:noFill/>
          <a:ln/>
        </p:spPr>
        <p:txBody>
          <a:bodyPr wrap="square" lIns="0" tIns="0" rIns="0" bIns="0" rtlCol="0" anchor="ctr"/>
          <a:lstStyle/>
          <a:p>
            <a:pPr indent="0" marL="0">
              <a:buNone/>
            </a:pPr>
            <a:r>
              <a:rPr lang="en-US" sz="1500" dirty="0">
                <a:solidFill>
                  <a:srgbClr val="747474"/>
                </a:solidFill>
                <a:latin typeface="Inter" pitchFamily="34" charset="0"/>
                <a:ea typeface="Inter" pitchFamily="34" charset="-122"/>
                <a:cs typeface="Inter" pitchFamily="34" charset="-120"/>
              </a:rPr>
              <a:t>Find open street-food stalls near you, in real time.</a:t>
            </a:r>
            <a:endParaRPr lang="en-US" sz="1500" dirty="0"/>
          </a:p>
        </p:txBody>
      </p:sp>
      <p:sp>
        <p:nvSpPr>
          <p:cNvPr id="10" name="Shape 8"/>
          <p:cNvSpPr/>
          <p:nvPr/>
        </p:nvSpPr>
        <p:spPr>
          <a:xfrm>
            <a:off x="8394192" y="1965960"/>
            <a:ext cx="2148840" cy="2148840"/>
          </a:xfrm>
          <a:prstGeom prst="roundRect">
            <a:avLst/>
          </a:prstGeom>
          <a:solidFill>
            <a:srgbClr val="FFFFFF"/>
          </a:solidFill>
          <a:ln w="15240">
            <a:solidFill>
              <a:srgbClr val="FF6B35"/>
            </a:solidFill>
            <a:prstDash val="solid"/>
          </a:ln>
        </p:spPr>
      </p:sp>
      <p:sp>
        <p:nvSpPr>
          <p:cNvPr id="11" name="Text 9"/>
          <p:cNvSpPr/>
          <p:nvPr/>
        </p:nvSpPr>
        <p:spPr>
          <a:xfrm>
            <a:off x="8613648" y="2542032"/>
            <a:ext cx="1700784" cy="182880"/>
          </a:xfrm>
          <a:prstGeom prst="rect">
            <a:avLst/>
          </a:prstGeom>
          <a:noFill/>
          <a:ln/>
        </p:spPr>
        <p:txBody>
          <a:bodyPr wrap="square" lIns="0" tIns="0" rIns="0" bIns="0" rtlCol="0" anchor="ctr"/>
          <a:lstStyle/>
          <a:p>
            <a:pPr algn="ctr" indent="0" marL="0">
              <a:buNone/>
            </a:pPr>
            <a:r>
              <a:rPr lang="en-US" sz="1000" b="1" dirty="0">
                <a:solidFill>
                  <a:srgbClr val="747474"/>
                </a:solidFill>
                <a:latin typeface="Inter" pitchFamily="34" charset="0"/>
                <a:ea typeface="Inter" pitchFamily="34" charset="-122"/>
                <a:cs typeface="Inter" pitchFamily="34" charset="-120"/>
              </a:rPr>
              <a:t>LOGO PLACEHOLDER</a:t>
            </a:r>
            <a:endParaRPr lang="en-US" sz="1000" dirty="0"/>
          </a:p>
        </p:txBody>
      </p:sp>
      <p:sp>
        <p:nvSpPr>
          <p:cNvPr id="12" name="Text 10"/>
          <p:cNvSpPr/>
          <p:nvPr/>
        </p:nvSpPr>
        <p:spPr>
          <a:xfrm>
            <a:off x="8558784" y="2907792"/>
            <a:ext cx="1810512" cy="274320"/>
          </a:xfrm>
          <a:prstGeom prst="rect">
            <a:avLst/>
          </a:prstGeom>
          <a:noFill/>
          <a:ln/>
        </p:spPr>
        <p:txBody>
          <a:bodyPr wrap="square" lIns="0" tIns="0" rIns="0" bIns="0" rtlCol="0" anchor="ctr"/>
          <a:lstStyle/>
          <a:p>
            <a:pPr algn="ctr" indent="0" marL="0">
              <a:buNone/>
            </a:pPr>
            <a:r>
              <a:rPr lang="en-US" sz="1000" b="1" dirty="0">
                <a:solidFill>
                  <a:srgbClr val="CC4009"/>
                </a:solidFill>
                <a:latin typeface="Inter" pitchFamily="34" charset="0"/>
                <a:ea typeface="Inter" pitchFamily="34" charset="-122"/>
                <a:cs typeface="Inter" pitchFamily="34" charset="-120"/>
              </a:rPr>
              <a:t>assets/vendrgo_logo.png</a:t>
            </a:r>
            <a:endParaRPr lang="en-US" sz="1000" dirty="0"/>
          </a:p>
        </p:txBody>
      </p:sp>
      <p:sp>
        <p:nvSpPr>
          <p:cNvPr id="13" name="Text 11"/>
          <p:cNvSpPr/>
          <p:nvPr/>
        </p:nvSpPr>
        <p:spPr>
          <a:xfrm>
            <a:off x="640080" y="5303520"/>
            <a:ext cx="5486400" cy="201168"/>
          </a:xfrm>
          <a:prstGeom prst="rect">
            <a:avLst/>
          </a:prstGeom>
          <a:noFill/>
          <a:ln/>
        </p:spPr>
        <p:txBody>
          <a:bodyPr wrap="square" lIns="0" tIns="0" rIns="0" bIns="0" rtlCol="0" anchor="ctr"/>
          <a:lstStyle/>
          <a:p>
            <a:pPr indent="0" marL="0">
              <a:buNone/>
            </a:pPr>
            <a:r>
              <a:rPr lang="en-US" sz="1300" dirty="0">
                <a:solidFill>
                  <a:srgbClr val="747474"/>
                </a:solidFill>
                <a:latin typeface="Inter" pitchFamily="34" charset="0"/>
                <a:ea typeface="Inter" pitchFamily="34" charset="-122"/>
                <a:cs typeface="Inter" pitchFamily="34" charset="-120"/>
              </a:rPr>
              <a:t>[College name]  |  [Academic year]</a:t>
            </a:r>
            <a:endParaRPr lang="en-US" sz="1300" dirty="0"/>
          </a:p>
        </p:txBody>
      </p:sp>
      <p:sp>
        <p:nvSpPr>
          <p:cNvPr id="14" name="Shape 12"/>
          <p:cNvSpPr/>
          <p:nvPr/>
        </p:nvSpPr>
        <p:spPr>
          <a:xfrm>
            <a:off x="594360" y="6044184"/>
            <a:ext cx="10972800" cy="13716"/>
          </a:xfrm>
          <a:prstGeom prst="rect">
            <a:avLst/>
          </a:prstGeom>
          <a:solidFill>
            <a:srgbClr val="F0DED6"/>
          </a:solidFill>
          <a:ln w="12700">
            <a:solidFill>
              <a:srgbClr val="F0DED6">
                <a:alpha val="0"/>
              </a:srgbClr>
            </a:solidFill>
            <a:prstDash val="solid"/>
          </a:ln>
        </p:spPr>
      </p:sp>
      <p:sp>
        <p:nvSpPr>
          <p:cNvPr id="15" name="Text 13"/>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747474"/>
                </a:solidFill>
                <a:latin typeface="Inter" pitchFamily="34" charset="0"/>
                <a:ea typeface="Inter" pitchFamily="34" charset="-122"/>
                <a:cs typeface="Inter" pitchFamily="34" charset="-120"/>
              </a:rPr>
              <a:t>VendrGo</a:t>
            </a:r>
            <a:endParaRPr lang="en-US" sz="1100" dirty="0"/>
          </a:p>
        </p:txBody>
      </p:sp>
      <p:sp>
        <p:nvSpPr>
          <p:cNvPr id="16" name="Text 14"/>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747474"/>
                </a:solidFill>
                <a:latin typeface="Inter" pitchFamily="34" charset="0"/>
                <a:ea typeface="Inter" pitchFamily="34" charset="-122"/>
                <a:cs typeface="Inter"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A"/>
        </a:solidFill>
      </p:bgPr>
    </p:bg>
    <p:spTree>
      <p:nvGrpSpPr>
        <p:cNvPr id="1" name=""/>
        <p:cNvGrpSpPr/>
        <p:nvPr/>
      </p:nvGrpSpPr>
      <p:grpSpPr>
        <a:xfrm>
          <a:off x="0" y="0"/>
          <a:ext cx="0" cy="0"/>
          <a:chOff x="0" y="0"/>
          <a:chExt cx="0" cy="0"/>
        </a:xfrm>
      </p:grpSpPr>
      <p:sp>
        <p:nvSpPr>
          <p:cNvPr id="2" name="Text 0"/>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1F1F1F"/>
                </a:solidFill>
                <a:latin typeface="Inter" pitchFamily="34" charset="0"/>
                <a:ea typeface="Inter" pitchFamily="34" charset="-122"/>
                <a:cs typeface="Inter" pitchFamily="34" charset="-120"/>
              </a:rPr>
              <a:t>Meet the crew</a:t>
            </a:r>
            <a:endParaRPr lang="en-US" sz="2900" dirty="0"/>
          </a:p>
        </p:txBody>
      </p:sp>
      <p:sp>
        <p:nvSpPr>
          <p:cNvPr id="3" name="Text 1"/>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Four people behind the VendrGo launch</a:t>
            </a:r>
            <a:endParaRPr lang="en-US" sz="1200" dirty="0"/>
          </a:p>
        </p:txBody>
      </p:sp>
      <p:sp>
        <p:nvSpPr>
          <p:cNvPr id="4" name="Shape 2"/>
          <p:cNvSpPr/>
          <p:nvPr/>
        </p:nvSpPr>
        <p:spPr>
          <a:xfrm>
            <a:off x="649224" y="1856232"/>
            <a:ext cx="5074920" cy="1188720"/>
          </a:xfrm>
          <a:prstGeom prst="roundRect">
            <a:avLst/>
          </a:prstGeom>
          <a:solidFill>
            <a:srgbClr val="EAD8D1"/>
          </a:solidFill>
          <a:ln w="12700">
            <a:solidFill>
              <a:srgbClr val="EAD8D1">
                <a:alpha val="0"/>
              </a:srgbClr>
            </a:solidFill>
            <a:prstDash val="solid"/>
          </a:ln>
        </p:spPr>
      </p:sp>
      <p:sp>
        <p:nvSpPr>
          <p:cNvPr id="5" name="Shape 3"/>
          <p:cNvSpPr/>
          <p:nvPr/>
        </p:nvSpPr>
        <p:spPr>
          <a:xfrm>
            <a:off x="594360" y="1783080"/>
            <a:ext cx="5074920" cy="1188720"/>
          </a:xfrm>
          <a:prstGeom prst="roundRect">
            <a:avLst/>
          </a:prstGeom>
          <a:solidFill>
            <a:srgbClr val="FFFFFF"/>
          </a:solidFill>
          <a:ln w="12700">
            <a:solidFill>
              <a:srgbClr val="FFFFFF">
                <a:alpha val="0"/>
              </a:srgbClr>
            </a:solidFill>
            <a:prstDash val="solid"/>
          </a:ln>
        </p:spPr>
      </p:sp>
      <p:sp>
        <p:nvSpPr>
          <p:cNvPr id="6" name="Text 4"/>
          <p:cNvSpPr/>
          <p:nvPr/>
        </p:nvSpPr>
        <p:spPr>
          <a:xfrm>
            <a:off x="758952" y="1965960"/>
            <a:ext cx="474573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[Student 1 Name]</a:t>
            </a:r>
            <a:endParaRPr lang="en-US" sz="1500" dirty="0"/>
          </a:p>
        </p:txBody>
      </p:sp>
      <p:sp>
        <p:nvSpPr>
          <p:cNvPr id="7" name="Text 5"/>
          <p:cNvSpPr/>
          <p:nvPr/>
        </p:nvSpPr>
        <p:spPr>
          <a:xfrm>
            <a:off x="758952" y="2304288"/>
            <a:ext cx="4745736" cy="56692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[Enrollment No.]</a:t>
            </a:r>
            <a:endParaRPr lang="en-US" sz="1100" dirty="0"/>
          </a:p>
          <a:p>
            <a:pPr indent="0" marL="0">
              <a:buNone/>
            </a:pPr>
            <a:r>
              <a:rPr lang="en-US" sz="1100" dirty="0">
                <a:solidFill>
                  <a:srgbClr val="747474"/>
                </a:solidFill>
                <a:latin typeface="Inter" pitchFamily="34" charset="0"/>
                <a:ea typeface="Inter" pitchFamily="34" charset="-122"/>
                <a:cs typeface="Inter" pitchFamily="34" charset="-120"/>
              </a:rPr>
              <a:t>[Roll No.]</a:t>
            </a:r>
            <a:endParaRPr lang="en-US" sz="1100" dirty="0"/>
          </a:p>
        </p:txBody>
      </p:sp>
      <p:sp>
        <p:nvSpPr>
          <p:cNvPr id="8" name="Text 6"/>
          <p:cNvSpPr/>
          <p:nvPr/>
        </p:nvSpPr>
        <p:spPr>
          <a:xfrm>
            <a:off x="758952" y="2468880"/>
            <a:ext cx="914400" cy="274320"/>
          </a:xfrm>
          <a:prstGeom prst="rect">
            <a:avLst/>
          </a:prstGeom>
          <a:noFill/>
          <a:ln/>
        </p:spPr>
        <p:txBody>
          <a:bodyPr wrap="square" lIns="0" tIns="0" rIns="0" bIns="0" rtlCol="0" anchor="ctr"/>
          <a:lstStyle/>
          <a:p>
            <a:pPr indent="0" marL="0">
              <a:buNone/>
            </a:pPr>
            <a:r>
              <a:rPr lang="en-US" sz="2000" b="1" dirty="0">
                <a:solidFill>
                  <a:srgbClr val="FF6B35"/>
                </a:solidFill>
                <a:latin typeface="Inter" pitchFamily="34" charset="0"/>
                <a:ea typeface="Inter" pitchFamily="34" charset="-122"/>
                <a:cs typeface="Inter" pitchFamily="34" charset="-120"/>
              </a:rPr>
              <a:t>01</a:t>
            </a:r>
            <a:endParaRPr lang="en-US" sz="2000" dirty="0"/>
          </a:p>
        </p:txBody>
      </p:sp>
      <p:sp>
        <p:nvSpPr>
          <p:cNvPr id="9" name="Shape 7"/>
          <p:cNvSpPr/>
          <p:nvPr/>
        </p:nvSpPr>
        <p:spPr>
          <a:xfrm>
            <a:off x="6227064" y="1856232"/>
            <a:ext cx="5074920" cy="1188720"/>
          </a:xfrm>
          <a:prstGeom prst="roundRect">
            <a:avLst/>
          </a:prstGeom>
          <a:solidFill>
            <a:srgbClr val="EAD8D1"/>
          </a:solidFill>
          <a:ln w="12700">
            <a:solidFill>
              <a:srgbClr val="EAD8D1">
                <a:alpha val="0"/>
              </a:srgbClr>
            </a:solidFill>
            <a:prstDash val="solid"/>
          </a:ln>
        </p:spPr>
      </p:sp>
      <p:sp>
        <p:nvSpPr>
          <p:cNvPr id="10" name="Shape 8"/>
          <p:cNvSpPr/>
          <p:nvPr/>
        </p:nvSpPr>
        <p:spPr>
          <a:xfrm>
            <a:off x="6172200" y="1783080"/>
            <a:ext cx="5074920" cy="1188720"/>
          </a:xfrm>
          <a:prstGeom prst="roundRect">
            <a:avLst/>
          </a:prstGeom>
          <a:solidFill>
            <a:srgbClr val="FFFFFF"/>
          </a:solidFill>
          <a:ln w="12700">
            <a:solidFill>
              <a:srgbClr val="FFFFFF">
                <a:alpha val="0"/>
              </a:srgbClr>
            </a:solidFill>
            <a:prstDash val="solid"/>
          </a:ln>
        </p:spPr>
      </p:sp>
      <p:sp>
        <p:nvSpPr>
          <p:cNvPr id="11" name="Text 9"/>
          <p:cNvSpPr/>
          <p:nvPr/>
        </p:nvSpPr>
        <p:spPr>
          <a:xfrm>
            <a:off x="6336792" y="1965960"/>
            <a:ext cx="474573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[Student 2 Name]</a:t>
            </a:r>
            <a:endParaRPr lang="en-US" sz="1500" dirty="0"/>
          </a:p>
        </p:txBody>
      </p:sp>
      <p:sp>
        <p:nvSpPr>
          <p:cNvPr id="12" name="Text 10"/>
          <p:cNvSpPr/>
          <p:nvPr/>
        </p:nvSpPr>
        <p:spPr>
          <a:xfrm>
            <a:off x="6336792" y="2304288"/>
            <a:ext cx="4745736" cy="56692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[Enrollment No.]</a:t>
            </a:r>
            <a:endParaRPr lang="en-US" sz="1100" dirty="0"/>
          </a:p>
          <a:p>
            <a:pPr indent="0" marL="0">
              <a:buNone/>
            </a:pPr>
            <a:r>
              <a:rPr lang="en-US" sz="1100" dirty="0">
                <a:solidFill>
                  <a:srgbClr val="747474"/>
                </a:solidFill>
                <a:latin typeface="Inter" pitchFamily="34" charset="0"/>
                <a:ea typeface="Inter" pitchFamily="34" charset="-122"/>
                <a:cs typeface="Inter" pitchFamily="34" charset="-120"/>
              </a:rPr>
              <a:t>[Roll No.]</a:t>
            </a:r>
            <a:endParaRPr lang="en-US" sz="1100" dirty="0"/>
          </a:p>
        </p:txBody>
      </p:sp>
      <p:sp>
        <p:nvSpPr>
          <p:cNvPr id="13" name="Text 11"/>
          <p:cNvSpPr/>
          <p:nvPr/>
        </p:nvSpPr>
        <p:spPr>
          <a:xfrm>
            <a:off x="6336792" y="2468880"/>
            <a:ext cx="914400" cy="274320"/>
          </a:xfrm>
          <a:prstGeom prst="rect">
            <a:avLst/>
          </a:prstGeom>
          <a:noFill/>
          <a:ln/>
        </p:spPr>
        <p:txBody>
          <a:bodyPr wrap="square" lIns="0" tIns="0" rIns="0" bIns="0" rtlCol="0" anchor="ctr"/>
          <a:lstStyle/>
          <a:p>
            <a:pPr indent="0" marL="0">
              <a:buNone/>
            </a:pPr>
            <a:r>
              <a:rPr lang="en-US" sz="2000" b="1" dirty="0">
                <a:solidFill>
                  <a:srgbClr val="FF6B35"/>
                </a:solidFill>
                <a:latin typeface="Inter" pitchFamily="34" charset="0"/>
                <a:ea typeface="Inter" pitchFamily="34" charset="-122"/>
                <a:cs typeface="Inter" pitchFamily="34" charset="-120"/>
              </a:rPr>
              <a:t>02</a:t>
            </a:r>
            <a:endParaRPr lang="en-US" sz="2000" dirty="0"/>
          </a:p>
        </p:txBody>
      </p:sp>
      <p:sp>
        <p:nvSpPr>
          <p:cNvPr id="14" name="Shape 12"/>
          <p:cNvSpPr/>
          <p:nvPr/>
        </p:nvSpPr>
        <p:spPr>
          <a:xfrm>
            <a:off x="649224" y="3410712"/>
            <a:ext cx="5074920" cy="1188720"/>
          </a:xfrm>
          <a:prstGeom prst="roundRect">
            <a:avLst/>
          </a:prstGeom>
          <a:solidFill>
            <a:srgbClr val="EAD8D1"/>
          </a:solidFill>
          <a:ln w="12700">
            <a:solidFill>
              <a:srgbClr val="EAD8D1">
                <a:alpha val="0"/>
              </a:srgbClr>
            </a:solidFill>
            <a:prstDash val="solid"/>
          </a:ln>
        </p:spPr>
      </p:sp>
      <p:sp>
        <p:nvSpPr>
          <p:cNvPr id="15" name="Shape 13"/>
          <p:cNvSpPr/>
          <p:nvPr/>
        </p:nvSpPr>
        <p:spPr>
          <a:xfrm>
            <a:off x="594360" y="3337560"/>
            <a:ext cx="5074920" cy="1188720"/>
          </a:xfrm>
          <a:prstGeom prst="roundRect">
            <a:avLst/>
          </a:prstGeom>
          <a:solidFill>
            <a:srgbClr val="FFFFFF"/>
          </a:solidFill>
          <a:ln w="12700">
            <a:solidFill>
              <a:srgbClr val="FFFFFF">
                <a:alpha val="0"/>
              </a:srgbClr>
            </a:solidFill>
            <a:prstDash val="solid"/>
          </a:ln>
        </p:spPr>
      </p:sp>
      <p:sp>
        <p:nvSpPr>
          <p:cNvPr id="16" name="Text 14"/>
          <p:cNvSpPr/>
          <p:nvPr/>
        </p:nvSpPr>
        <p:spPr>
          <a:xfrm>
            <a:off x="758952" y="3520440"/>
            <a:ext cx="474573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[Student 3 Name]</a:t>
            </a:r>
            <a:endParaRPr lang="en-US" sz="1500" dirty="0"/>
          </a:p>
        </p:txBody>
      </p:sp>
      <p:sp>
        <p:nvSpPr>
          <p:cNvPr id="17" name="Text 15"/>
          <p:cNvSpPr/>
          <p:nvPr/>
        </p:nvSpPr>
        <p:spPr>
          <a:xfrm>
            <a:off x="758952" y="3858768"/>
            <a:ext cx="4745736" cy="56692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[Enrollment No.]</a:t>
            </a:r>
            <a:endParaRPr lang="en-US" sz="1100" dirty="0"/>
          </a:p>
          <a:p>
            <a:pPr indent="0" marL="0">
              <a:buNone/>
            </a:pPr>
            <a:r>
              <a:rPr lang="en-US" sz="1100" dirty="0">
                <a:solidFill>
                  <a:srgbClr val="747474"/>
                </a:solidFill>
                <a:latin typeface="Inter" pitchFamily="34" charset="0"/>
                <a:ea typeface="Inter" pitchFamily="34" charset="-122"/>
                <a:cs typeface="Inter" pitchFamily="34" charset="-120"/>
              </a:rPr>
              <a:t>[Roll No.]</a:t>
            </a:r>
            <a:endParaRPr lang="en-US" sz="1100" dirty="0"/>
          </a:p>
        </p:txBody>
      </p:sp>
      <p:sp>
        <p:nvSpPr>
          <p:cNvPr id="18" name="Text 16"/>
          <p:cNvSpPr/>
          <p:nvPr/>
        </p:nvSpPr>
        <p:spPr>
          <a:xfrm>
            <a:off x="758952" y="4023360"/>
            <a:ext cx="914400" cy="274320"/>
          </a:xfrm>
          <a:prstGeom prst="rect">
            <a:avLst/>
          </a:prstGeom>
          <a:noFill/>
          <a:ln/>
        </p:spPr>
        <p:txBody>
          <a:bodyPr wrap="square" lIns="0" tIns="0" rIns="0" bIns="0" rtlCol="0" anchor="ctr"/>
          <a:lstStyle/>
          <a:p>
            <a:pPr indent="0" marL="0">
              <a:buNone/>
            </a:pPr>
            <a:r>
              <a:rPr lang="en-US" sz="2000" b="1" dirty="0">
                <a:solidFill>
                  <a:srgbClr val="FF6B35"/>
                </a:solidFill>
                <a:latin typeface="Inter" pitchFamily="34" charset="0"/>
                <a:ea typeface="Inter" pitchFamily="34" charset="-122"/>
                <a:cs typeface="Inter" pitchFamily="34" charset="-120"/>
              </a:rPr>
              <a:t>03</a:t>
            </a:r>
            <a:endParaRPr lang="en-US" sz="2000" dirty="0"/>
          </a:p>
        </p:txBody>
      </p:sp>
      <p:sp>
        <p:nvSpPr>
          <p:cNvPr id="19" name="Shape 17"/>
          <p:cNvSpPr/>
          <p:nvPr/>
        </p:nvSpPr>
        <p:spPr>
          <a:xfrm>
            <a:off x="6227064" y="3410712"/>
            <a:ext cx="5074920" cy="1188720"/>
          </a:xfrm>
          <a:prstGeom prst="roundRect">
            <a:avLst/>
          </a:prstGeom>
          <a:solidFill>
            <a:srgbClr val="EAD8D1"/>
          </a:solidFill>
          <a:ln w="12700">
            <a:solidFill>
              <a:srgbClr val="EAD8D1">
                <a:alpha val="0"/>
              </a:srgbClr>
            </a:solidFill>
            <a:prstDash val="solid"/>
          </a:ln>
        </p:spPr>
      </p:sp>
      <p:sp>
        <p:nvSpPr>
          <p:cNvPr id="20" name="Shape 18"/>
          <p:cNvSpPr/>
          <p:nvPr/>
        </p:nvSpPr>
        <p:spPr>
          <a:xfrm>
            <a:off x="6172200" y="3337560"/>
            <a:ext cx="5074920" cy="1188720"/>
          </a:xfrm>
          <a:prstGeom prst="roundRect">
            <a:avLst/>
          </a:prstGeom>
          <a:solidFill>
            <a:srgbClr val="FFFFFF"/>
          </a:solidFill>
          <a:ln w="12700">
            <a:solidFill>
              <a:srgbClr val="FFFFFF">
                <a:alpha val="0"/>
              </a:srgbClr>
            </a:solidFill>
            <a:prstDash val="solid"/>
          </a:ln>
        </p:spPr>
      </p:sp>
      <p:sp>
        <p:nvSpPr>
          <p:cNvPr id="21" name="Text 19"/>
          <p:cNvSpPr/>
          <p:nvPr/>
        </p:nvSpPr>
        <p:spPr>
          <a:xfrm>
            <a:off x="6336792" y="3520440"/>
            <a:ext cx="474573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[Student 4 Name]</a:t>
            </a:r>
            <a:endParaRPr lang="en-US" sz="1500" dirty="0"/>
          </a:p>
        </p:txBody>
      </p:sp>
      <p:sp>
        <p:nvSpPr>
          <p:cNvPr id="22" name="Text 20"/>
          <p:cNvSpPr/>
          <p:nvPr/>
        </p:nvSpPr>
        <p:spPr>
          <a:xfrm>
            <a:off x="6336792" y="3858768"/>
            <a:ext cx="4745736" cy="56692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[Enrollment No.]</a:t>
            </a:r>
            <a:endParaRPr lang="en-US" sz="1100" dirty="0"/>
          </a:p>
          <a:p>
            <a:pPr indent="0" marL="0">
              <a:buNone/>
            </a:pPr>
            <a:r>
              <a:rPr lang="en-US" sz="1100" dirty="0">
                <a:solidFill>
                  <a:srgbClr val="747474"/>
                </a:solidFill>
                <a:latin typeface="Inter" pitchFamily="34" charset="0"/>
                <a:ea typeface="Inter" pitchFamily="34" charset="-122"/>
                <a:cs typeface="Inter" pitchFamily="34" charset="-120"/>
              </a:rPr>
              <a:t>[Roll No.]</a:t>
            </a:r>
            <a:endParaRPr lang="en-US" sz="1100" dirty="0"/>
          </a:p>
        </p:txBody>
      </p:sp>
      <p:sp>
        <p:nvSpPr>
          <p:cNvPr id="23" name="Text 21"/>
          <p:cNvSpPr/>
          <p:nvPr/>
        </p:nvSpPr>
        <p:spPr>
          <a:xfrm>
            <a:off x="6336792" y="4023360"/>
            <a:ext cx="914400" cy="274320"/>
          </a:xfrm>
          <a:prstGeom prst="rect">
            <a:avLst/>
          </a:prstGeom>
          <a:noFill/>
          <a:ln/>
        </p:spPr>
        <p:txBody>
          <a:bodyPr wrap="square" lIns="0" tIns="0" rIns="0" bIns="0" rtlCol="0" anchor="ctr"/>
          <a:lstStyle/>
          <a:p>
            <a:pPr indent="0" marL="0">
              <a:buNone/>
            </a:pPr>
            <a:r>
              <a:rPr lang="en-US" sz="2000" b="1" dirty="0">
                <a:solidFill>
                  <a:srgbClr val="FF6B35"/>
                </a:solidFill>
                <a:latin typeface="Inter" pitchFamily="34" charset="0"/>
                <a:ea typeface="Inter" pitchFamily="34" charset="-122"/>
                <a:cs typeface="Inter" pitchFamily="34" charset="-120"/>
              </a:rPr>
              <a:t>04</a:t>
            </a:r>
            <a:endParaRPr lang="en-US" sz="2000" dirty="0"/>
          </a:p>
        </p:txBody>
      </p:sp>
      <p:sp>
        <p:nvSpPr>
          <p:cNvPr id="24" name="Shape 22"/>
          <p:cNvSpPr/>
          <p:nvPr/>
        </p:nvSpPr>
        <p:spPr>
          <a:xfrm>
            <a:off x="594360" y="5074920"/>
            <a:ext cx="1920240" cy="292608"/>
          </a:xfrm>
          <a:prstGeom prst="roundRect">
            <a:avLst/>
          </a:prstGeom>
          <a:solidFill>
            <a:srgbClr val="CC4009"/>
          </a:solidFill>
          <a:ln w="12700">
            <a:solidFill>
              <a:srgbClr val="CC4009">
                <a:alpha val="0"/>
              </a:srgbClr>
            </a:solidFill>
            <a:prstDash val="solid"/>
          </a:ln>
        </p:spPr>
      </p:sp>
      <p:sp>
        <p:nvSpPr>
          <p:cNvPr id="25" name="Text 23"/>
          <p:cNvSpPr/>
          <p:nvPr/>
        </p:nvSpPr>
        <p:spPr>
          <a:xfrm>
            <a:off x="594360" y="5125212"/>
            <a:ext cx="19202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GUIDE: [Guide name]</a:t>
            </a:r>
            <a:endParaRPr lang="en-US" sz="900" dirty="0"/>
          </a:p>
        </p:txBody>
      </p:sp>
      <p:sp>
        <p:nvSpPr>
          <p:cNvPr id="26" name="Text 24"/>
          <p:cNvSpPr/>
          <p:nvPr/>
        </p:nvSpPr>
        <p:spPr>
          <a:xfrm>
            <a:off x="2788920" y="5129784"/>
            <a:ext cx="7498080" cy="201168"/>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[College name]  ·  [Department, Semester]  ·  [Academic year]</a:t>
            </a:r>
            <a:endParaRPr lang="en-US" sz="1200" dirty="0"/>
          </a:p>
        </p:txBody>
      </p:sp>
      <p:sp>
        <p:nvSpPr>
          <p:cNvPr id="27" name="Shape 25"/>
          <p:cNvSpPr/>
          <p:nvPr/>
        </p:nvSpPr>
        <p:spPr>
          <a:xfrm>
            <a:off x="594360" y="6044184"/>
            <a:ext cx="10972800" cy="13716"/>
          </a:xfrm>
          <a:prstGeom prst="rect">
            <a:avLst/>
          </a:prstGeom>
          <a:solidFill>
            <a:srgbClr val="F0DED6"/>
          </a:solidFill>
          <a:ln w="12700">
            <a:solidFill>
              <a:srgbClr val="F0DED6">
                <a:alpha val="0"/>
              </a:srgbClr>
            </a:solidFill>
            <a:prstDash val="solid"/>
          </a:ln>
        </p:spPr>
      </p:sp>
      <p:sp>
        <p:nvSpPr>
          <p:cNvPr id="28" name="Text 26"/>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747474"/>
                </a:solidFill>
                <a:latin typeface="Inter" pitchFamily="34" charset="0"/>
                <a:ea typeface="Inter" pitchFamily="34" charset="-122"/>
                <a:cs typeface="Inter" pitchFamily="34" charset="-120"/>
              </a:rPr>
              <a:t>VendrGo</a:t>
            </a:r>
            <a:endParaRPr lang="en-US" sz="1100" dirty="0"/>
          </a:p>
        </p:txBody>
      </p:sp>
      <p:sp>
        <p:nvSpPr>
          <p:cNvPr id="29" name="Text 27"/>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747474"/>
                </a:solidFill>
                <a:latin typeface="Inter" pitchFamily="34" charset="0"/>
                <a:ea typeface="Inter" pitchFamily="34" charset="-122"/>
                <a:cs typeface="Inter"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6B35"/>
        </a:solidFill>
      </p:bgPr>
    </p:bg>
    <p:spTree>
      <p:nvGrpSpPr>
        <p:cNvPr id="1" name=""/>
        <p:cNvGrpSpPr/>
        <p:nvPr/>
      </p:nvGrpSpPr>
      <p:grpSpPr>
        <a:xfrm>
          <a:off x="0" y="0"/>
          <a:ext cx="0" cy="0"/>
          <a:chOff x="0" y="0"/>
          <a:chExt cx="0" cy="0"/>
        </a:xfrm>
      </p:grpSpPr>
      <p:sp>
        <p:nvSpPr>
          <p:cNvPr id="2" name="Shape 0"/>
          <p:cNvSpPr/>
          <p:nvPr/>
        </p:nvSpPr>
        <p:spPr>
          <a:xfrm>
            <a:off x="594360" y="438912"/>
            <a:ext cx="1024128" cy="292608"/>
          </a:xfrm>
          <a:prstGeom prst="roundRect">
            <a:avLst/>
          </a:prstGeom>
          <a:solidFill>
            <a:srgbClr val="747474"/>
          </a:solidFill>
          <a:ln w="12700">
            <a:solidFill>
              <a:srgbClr val="747474">
                <a:alpha val="0"/>
              </a:srgbClr>
            </a:solidFill>
            <a:prstDash val="solid"/>
          </a:ln>
        </p:spPr>
      </p:sp>
      <p:sp>
        <p:nvSpPr>
          <p:cNvPr id="3" name="Text 1"/>
          <p:cNvSpPr/>
          <p:nvPr/>
        </p:nvSpPr>
        <p:spPr>
          <a:xfrm>
            <a:off x="594360" y="489204"/>
            <a:ext cx="1024128"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Everyone</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Inter" pitchFamily="34" charset="0"/>
                <a:ea typeface="Inter" pitchFamily="34" charset="-122"/>
                <a:cs typeface="Inter" pitchFamily="34" charset="-120"/>
              </a:rPr>
              <a:t>Open. Verify. Find your home.</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F8D4C8"/>
                </a:solidFill>
                <a:latin typeface="Inter" pitchFamily="34" charset="0"/>
                <a:ea typeface="Inter" pitchFamily="34" charset="-122"/>
                <a:cs typeface="Inter" pitchFamily="34" charset="-120"/>
              </a:rPr>
              <a:t>A four-step start for every VendrGo user</a:t>
            </a:r>
            <a:endParaRPr lang="en-US" sz="1200" dirty="0"/>
          </a:p>
        </p:txBody>
      </p:sp>
      <p:sp>
        <p:nvSpPr>
          <p:cNvPr id="6" name="Shape 4"/>
          <p:cNvSpPr/>
          <p:nvPr/>
        </p:nvSpPr>
        <p:spPr>
          <a:xfrm>
            <a:off x="731520" y="2286000"/>
            <a:ext cx="731520" cy="731520"/>
          </a:xfrm>
          <a:prstGeom prst="ellipse">
            <a:avLst/>
          </a:prstGeom>
          <a:solidFill>
            <a:srgbClr val="FFFFFF"/>
          </a:solidFill>
          <a:ln w="12700">
            <a:solidFill>
              <a:srgbClr val="FFFFFF">
                <a:alpha val="0"/>
              </a:srgbClr>
            </a:solidFill>
            <a:prstDash val="solid"/>
          </a:ln>
        </p:spPr>
      </p:sp>
      <p:sp>
        <p:nvSpPr>
          <p:cNvPr id="7" name="Text 5"/>
          <p:cNvSpPr/>
          <p:nvPr/>
        </p:nvSpPr>
        <p:spPr>
          <a:xfrm>
            <a:off x="731520" y="2450592"/>
            <a:ext cx="731520" cy="201168"/>
          </a:xfrm>
          <a:prstGeom prst="rect">
            <a:avLst/>
          </a:prstGeom>
          <a:noFill/>
          <a:ln/>
        </p:spPr>
        <p:txBody>
          <a:bodyPr wrap="square" lIns="0" tIns="0" rIns="0" bIns="0" rtlCol="0" anchor="ctr"/>
          <a:lstStyle/>
          <a:p>
            <a:pPr algn="ctr" indent="0" marL="0">
              <a:buNone/>
            </a:pPr>
            <a:r>
              <a:rPr lang="en-US" sz="2000" b="1" dirty="0">
                <a:solidFill>
                  <a:srgbClr val="FF6B35"/>
                </a:solidFill>
                <a:latin typeface="Inter" pitchFamily="34" charset="0"/>
                <a:ea typeface="Inter" pitchFamily="34" charset="-122"/>
                <a:cs typeface="Inter" pitchFamily="34" charset="-120"/>
              </a:rPr>
              <a:t>1</a:t>
            </a:r>
            <a:endParaRPr lang="en-US" sz="2000" dirty="0"/>
          </a:p>
        </p:txBody>
      </p:sp>
      <p:sp>
        <p:nvSpPr>
          <p:cNvPr id="8" name="Text 6"/>
          <p:cNvSpPr/>
          <p:nvPr/>
        </p:nvSpPr>
        <p:spPr>
          <a:xfrm>
            <a:off x="411480" y="3182112"/>
            <a:ext cx="137160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Open app</a:t>
            </a:r>
            <a:endParaRPr lang="en-US" sz="1500" dirty="0"/>
          </a:p>
        </p:txBody>
      </p:sp>
      <p:sp>
        <p:nvSpPr>
          <p:cNvPr id="9" name="Shape 7"/>
          <p:cNvSpPr/>
          <p:nvPr/>
        </p:nvSpPr>
        <p:spPr>
          <a:xfrm>
            <a:off x="1764792" y="2514600"/>
            <a:ext cx="1234440" cy="256032"/>
          </a:xfrm>
          <a:prstGeom prst="rightArrow">
            <a:avLst/>
          </a:prstGeom>
          <a:solidFill>
            <a:srgbClr val="FFD2C0"/>
          </a:solidFill>
          <a:ln w="12700">
            <a:solidFill>
              <a:srgbClr val="FFD2C0">
                <a:alpha val="0"/>
              </a:srgbClr>
            </a:solidFill>
            <a:prstDash val="solid"/>
          </a:ln>
        </p:spPr>
      </p:sp>
      <p:sp>
        <p:nvSpPr>
          <p:cNvPr id="10" name="Shape 8"/>
          <p:cNvSpPr/>
          <p:nvPr/>
        </p:nvSpPr>
        <p:spPr>
          <a:xfrm>
            <a:off x="3520440" y="2286000"/>
            <a:ext cx="731520" cy="731520"/>
          </a:xfrm>
          <a:prstGeom prst="ellipse">
            <a:avLst/>
          </a:prstGeom>
          <a:solidFill>
            <a:srgbClr val="FFFFFF"/>
          </a:solidFill>
          <a:ln w="12700">
            <a:solidFill>
              <a:srgbClr val="FFFFFF">
                <a:alpha val="0"/>
              </a:srgbClr>
            </a:solidFill>
            <a:prstDash val="solid"/>
          </a:ln>
        </p:spPr>
      </p:sp>
      <p:sp>
        <p:nvSpPr>
          <p:cNvPr id="11" name="Text 9"/>
          <p:cNvSpPr/>
          <p:nvPr/>
        </p:nvSpPr>
        <p:spPr>
          <a:xfrm>
            <a:off x="3520440" y="2450592"/>
            <a:ext cx="731520" cy="201168"/>
          </a:xfrm>
          <a:prstGeom prst="rect">
            <a:avLst/>
          </a:prstGeom>
          <a:noFill/>
          <a:ln/>
        </p:spPr>
        <p:txBody>
          <a:bodyPr wrap="square" lIns="0" tIns="0" rIns="0" bIns="0" rtlCol="0" anchor="ctr"/>
          <a:lstStyle/>
          <a:p>
            <a:pPr algn="ctr" indent="0" marL="0">
              <a:buNone/>
            </a:pPr>
            <a:r>
              <a:rPr lang="en-US" sz="2000" b="1" dirty="0">
                <a:solidFill>
                  <a:srgbClr val="FF6B35"/>
                </a:solidFill>
                <a:latin typeface="Inter" pitchFamily="34" charset="0"/>
                <a:ea typeface="Inter" pitchFamily="34" charset="-122"/>
                <a:cs typeface="Inter" pitchFamily="34" charset="-120"/>
              </a:rPr>
              <a:t>2</a:t>
            </a:r>
            <a:endParaRPr lang="en-US" sz="2000" dirty="0"/>
          </a:p>
        </p:txBody>
      </p:sp>
      <p:sp>
        <p:nvSpPr>
          <p:cNvPr id="12" name="Text 10"/>
          <p:cNvSpPr/>
          <p:nvPr/>
        </p:nvSpPr>
        <p:spPr>
          <a:xfrm>
            <a:off x="3200400" y="3182112"/>
            <a:ext cx="137160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Sign up</a:t>
            </a:r>
            <a:endParaRPr lang="en-US" sz="1500" dirty="0"/>
          </a:p>
        </p:txBody>
      </p:sp>
      <p:sp>
        <p:nvSpPr>
          <p:cNvPr id="13" name="Shape 11"/>
          <p:cNvSpPr/>
          <p:nvPr/>
        </p:nvSpPr>
        <p:spPr>
          <a:xfrm>
            <a:off x="4553712" y="2514600"/>
            <a:ext cx="1234440" cy="256032"/>
          </a:xfrm>
          <a:prstGeom prst="rightArrow">
            <a:avLst/>
          </a:prstGeom>
          <a:solidFill>
            <a:srgbClr val="FFD2C0"/>
          </a:solidFill>
          <a:ln w="12700">
            <a:solidFill>
              <a:srgbClr val="FFD2C0">
                <a:alpha val="0"/>
              </a:srgbClr>
            </a:solidFill>
            <a:prstDash val="solid"/>
          </a:ln>
        </p:spPr>
      </p:sp>
      <p:sp>
        <p:nvSpPr>
          <p:cNvPr id="14" name="Shape 12"/>
          <p:cNvSpPr/>
          <p:nvPr/>
        </p:nvSpPr>
        <p:spPr>
          <a:xfrm>
            <a:off x="6309360" y="2286000"/>
            <a:ext cx="731520" cy="731520"/>
          </a:xfrm>
          <a:prstGeom prst="ellipse">
            <a:avLst/>
          </a:prstGeom>
          <a:solidFill>
            <a:srgbClr val="FFFFFF"/>
          </a:solidFill>
          <a:ln w="12700">
            <a:solidFill>
              <a:srgbClr val="FFFFFF">
                <a:alpha val="0"/>
              </a:srgbClr>
            </a:solidFill>
            <a:prstDash val="solid"/>
          </a:ln>
        </p:spPr>
      </p:sp>
      <p:sp>
        <p:nvSpPr>
          <p:cNvPr id="15" name="Text 13"/>
          <p:cNvSpPr/>
          <p:nvPr/>
        </p:nvSpPr>
        <p:spPr>
          <a:xfrm>
            <a:off x="6309360" y="2450592"/>
            <a:ext cx="731520" cy="201168"/>
          </a:xfrm>
          <a:prstGeom prst="rect">
            <a:avLst/>
          </a:prstGeom>
          <a:noFill/>
          <a:ln/>
        </p:spPr>
        <p:txBody>
          <a:bodyPr wrap="square" lIns="0" tIns="0" rIns="0" bIns="0" rtlCol="0" anchor="ctr"/>
          <a:lstStyle/>
          <a:p>
            <a:pPr algn="ctr" indent="0" marL="0">
              <a:buNone/>
            </a:pPr>
            <a:r>
              <a:rPr lang="en-US" sz="2000" b="1" dirty="0">
                <a:solidFill>
                  <a:srgbClr val="FF6B35"/>
                </a:solidFill>
                <a:latin typeface="Inter" pitchFamily="34" charset="0"/>
                <a:ea typeface="Inter" pitchFamily="34" charset="-122"/>
                <a:cs typeface="Inter" pitchFamily="34" charset="-120"/>
              </a:rPr>
              <a:t>3</a:t>
            </a:r>
            <a:endParaRPr lang="en-US" sz="2000" dirty="0"/>
          </a:p>
        </p:txBody>
      </p:sp>
      <p:sp>
        <p:nvSpPr>
          <p:cNvPr id="16" name="Text 14"/>
          <p:cNvSpPr/>
          <p:nvPr/>
        </p:nvSpPr>
        <p:spPr>
          <a:xfrm>
            <a:off x="5989320" y="3182112"/>
            <a:ext cx="137160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Verify email</a:t>
            </a:r>
            <a:endParaRPr lang="en-US" sz="1500" dirty="0"/>
          </a:p>
        </p:txBody>
      </p:sp>
      <p:sp>
        <p:nvSpPr>
          <p:cNvPr id="17" name="Shape 15"/>
          <p:cNvSpPr/>
          <p:nvPr/>
        </p:nvSpPr>
        <p:spPr>
          <a:xfrm>
            <a:off x="7342632" y="2514600"/>
            <a:ext cx="1234440" cy="256032"/>
          </a:xfrm>
          <a:prstGeom prst="rightArrow">
            <a:avLst/>
          </a:prstGeom>
          <a:solidFill>
            <a:srgbClr val="FFD2C0"/>
          </a:solidFill>
          <a:ln w="12700">
            <a:solidFill>
              <a:srgbClr val="FFD2C0">
                <a:alpha val="0"/>
              </a:srgbClr>
            </a:solidFill>
            <a:prstDash val="solid"/>
          </a:ln>
        </p:spPr>
      </p:sp>
      <p:sp>
        <p:nvSpPr>
          <p:cNvPr id="18" name="Shape 16"/>
          <p:cNvSpPr/>
          <p:nvPr/>
        </p:nvSpPr>
        <p:spPr>
          <a:xfrm>
            <a:off x="9098280" y="2286000"/>
            <a:ext cx="731520" cy="731520"/>
          </a:xfrm>
          <a:prstGeom prst="ellipse">
            <a:avLst/>
          </a:prstGeom>
          <a:solidFill>
            <a:srgbClr val="FFFFFF"/>
          </a:solidFill>
          <a:ln w="12700">
            <a:solidFill>
              <a:srgbClr val="FFFFFF">
                <a:alpha val="0"/>
              </a:srgbClr>
            </a:solidFill>
            <a:prstDash val="solid"/>
          </a:ln>
        </p:spPr>
      </p:sp>
      <p:sp>
        <p:nvSpPr>
          <p:cNvPr id="19" name="Text 17"/>
          <p:cNvSpPr/>
          <p:nvPr/>
        </p:nvSpPr>
        <p:spPr>
          <a:xfrm>
            <a:off x="9098280" y="2450592"/>
            <a:ext cx="731520" cy="201168"/>
          </a:xfrm>
          <a:prstGeom prst="rect">
            <a:avLst/>
          </a:prstGeom>
          <a:noFill/>
          <a:ln/>
        </p:spPr>
        <p:txBody>
          <a:bodyPr wrap="square" lIns="0" tIns="0" rIns="0" bIns="0" rtlCol="0" anchor="ctr"/>
          <a:lstStyle/>
          <a:p>
            <a:pPr algn="ctr" indent="0" marL="0">
              <a:buNone/>
            </a:pPr>
            <a:r>
              <a:rPr lang="en-US" sz="2000" b="1" dirty="0">
                <a:solidFill>
                  <a:srgbClr val="FF6B35"/>
                </a:solidFill>
                <a:latin typeface="Inter" pitchFamily="34" charset="0"/>
                <a:ea typeface="Inter" pitchFamily="34" charset="-122"/>
                <a:cs typeface="Inter" pitchFamily="34" charset="-120"/>
              </a:rPr>
              <a:t>4</a:t>
            </a:r>
            <a:endParaRPr lang="en-US" sz="2000" dirty="0"/>
          </a:p>
        </p:txBody>
      </p:sp>
      <p:sp>
        <p:nvSpPr>
          <p:cNvPr id="20" name="Text 18"/>
          <p:cNvSpPr/>
          <p:nvPr/>
        </p:nvSpPr>
        <p:spPr>
          <a:xfrm>
            <a:off x="8778240" y="3182112"/>
            <a:ext cx="1371600" cy="21945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Your home</a:t>
            </a:r>
            <a:endParaRPr lang="en-US" sz="1500" dirty="0"/>
          </a:p>
        </p:txBody>
      </p:sp>
      <p:sp>
        <p:nvSpPr>
          <p:cNvPr id="21" name="Text 19"/>
          <p:cNvSpPr/>
          <p:nvPr/>
        </p:nvSpPr>
        <p:spPr>
          <a:xfrm>
            <a:off x="822960" y="4069080"/>
            <a:ext cx="1828800" cy="201168"/>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Email login</a:t>
            </a:r>
            <a:endParaRPr lang="en-US" sz="1300" dirty="0"/>
          </a:p>
        </p:txBody>
      </p:sp>
      <p:sp>
        <p:nvSpPr>
          <p:cNvPr id="22" name="Text 20"/>
          <p:cNvSpPr/>
          <p:nvPr/>
        </p:nvSpPr>
        <p:spPr>
          <a:xfrm>
            <a:off x="3611880" y="4069080"/>
            <a:ext cx="2103120" cy="201168"/>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Customer or Vendor</a:t>
            </a:r>
            <a:endParaRPr lang="en-US" sz="1300" dirty="0"/>
          </a:p>
        </p:txBody>
      </p:sp>
      <p:sp>
        <p:nvSpPr>
          <p:cNvPr id="23" name="Text 21"/>
          <p:cNvSpPr/>
          <p:nvPr/>
        </p:nvSpPr>
        <p:spPr>
          <a:xfrm>
            <a:off x="6400800" y="4069080"/>
            <a:ext cx="2194560" cy="201168"/>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Reset password if needed</a:t>
            </a:r>
            <a:endParaRPr lang="en-US" sz="1300" dirty="0"/>
          </a:p>
        </p:txBody>
      </p:sp>
      <p:sp>
        <p:nvSpPr>
          <p:cNvPr id="24" name="Text 22"/>
          <p:cNvSpPr/>
          <p:nvPr/>
        </p:nvSpPr>
        <p:spPr>
          <a:xfrm>
            <a:off x="9189720" y="4069080"/>
            <a:ext cx="2103120" cy="201168"/>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Role-based home screen</a:t>
            </a:r>
            <a:endParaRPr lang="en-US" sz="1300" dirty="0"/>
          </a:p>
        </p:txBody>
      </p:sp>
      <p:sp>
        <p:nvSpPr>
          <p:cNvPr id="25" name="Shape 23"/>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26" name="Text 24"/>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27" name="Text 25"/>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C4009"/>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FF6B35"/>
          </a:solidFill>
          <a:ln w="12700">
            <a:solidFill>
              <a:srgbClr val="FF6B35">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Vendor</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Inter" pitchFamily="34" charset="0"/>
                <a:ea typeface="Inter" pitchFamily="34" charset="-122"/>
                <a:cs typeface="Inter" pitchFamily="34" charset="-120"/>
              </a:rPr>
              <a:t>Your stall, ready to discover.</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F8D4C8"/>
                </a:solidFill>
                <a:latin typeface="Inter" pitchFamily="34" charset="0"/>
                <a:ea typeface="Inter" pitchFamily="34" charset="-122"/>
                <a:cs typeface="Inter" pitchFamily="34" charset="-120"/>
              </a:rPr>
              <a:t>Everything a vendor adds before going live</a:t>
            </a:r>
            <a:endParaRPr lang="en-US" sz="1200" dirty="0"/>
          </a:p>
        </p:txBody>
      </p:sp>
      <p:sp>
        <p:nvSpPr>
          <p:cNvPr id="6" name="Shape 4"/>
          <p:cNvSpPr/>
          <p:nvPr/>
        </p:nvSpPr>
        <p:spPr>
          <a:xfrm>
            <a:off x="1005840" y="1874520"/>
            <a:ext cx="457200" cy="457200"/>
          </a:xfrm>
          <a:prstGeom prst="ellipse">
            <a:avLst/>
          </a:prstGeom>
          <a:solidFill>
            <a:srgbClr val="FFFFFF"/>
          </a:solidFill>
          <a:ln w="12700">
            <a:solidFill>
              <a:srgbClr val="FFFFFF">
                <a:alpha val="0"/>
              </a:srgbClr>
            </a:solidFill>
            <a:prstDash val="solid"/>
          </a:ln>
        </p:spPr>
      </p:sp>
      <p:sp>
        <p:nvSpPr>
          <p:cNvPr id="7" name="Text 5"/>
          <p:cNvSpPr/>
          <p:nvPr/>
        </p:nvSpPr>
        <p:spPr>
          <a:xfrm>
            <a:off x="1005840" y="2011680"/>
            <a:ext cx="457200" cy="146304"/>
          </a:xfrm>
          <a:prstGeom prst="rect">
            <a:avLst/>
          </a:prstGeom>
          <a:noFill/>
          <a:ln/>
        </p:spPr>
        <p:txBody>
          <a:bodyPr wrap="square" lIns="0" tIns="0" rIns="0" bIns="0" rtlCol="0" anchor="ctr"/>
          <a:lstStyle/>
          <a:p>
            <a:pPr algn="ctr" indent="0" marL="0">
              <a:buNone/>
            </a:pPr>
            <a:r>
              <a:rPr lang="en-US" sz="1000" b="1" dirty="0">
                <a:solidFill>
                  <a:srgbClr val="CC4009"/>
                </a:solidFill>
                <a:latin typeface="Inter" pitchFamily="34" charset="0"/>
                <a:ea typeface="Inter" pitchFamily="34" charset="-122"/>
                <a:cs typeface="Inter" pitchFamily="34" charset="-120"/>
              </a:rPr>
              <a:t>01</a:t>
            </a:r>
            <a:endParaRPr lang="en-US" sz="1000" dirty="0"/>
          </a:p>
        </p:txBody>
      </p:sp>
      <p:sp>
        <p:nvSpPr>
          <p:cNvPr id="8" name="Text 6"/>
          <p:cNvSpPr/>
          <p:nvPr/>
        </p:nvSpPr>
        <p:spPr>
          <a:xfrm>
            <a:off x="1737360" y="1965960"/>
            <a:ext cx="2194560" cy="20116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Stall details</a:t>
            </a:r>
            <a:endParaRPr lang="en-US" sz="1600" dirty="0"/>
          </a:p>
        </p:txBody>
      </p:sp>
      <p:sp>
        <p:nvSpPr>
          <p:cNvPr id="9" name="Shape 7"/>
          <p:cNvSpPr/>
          <p:nvPr/>
        </p:nvSpPr>
        <p:spPr>
          <a:xfrm>
            <a:off x="1225296" y="2331720"/>
            <a:ext cx="18288" cy="347472"/>
          </a:xfrm>
          <a:prstGeom prst="line">
            <a:avLst/>
          </a:prstGeom>
          <a:solidFill>
            <a:srgbClr val="FFD2C0"/>
          </a:solidFill>
          <a:ln w="12700">
            <a:solidFill>
              <a:srgbClr val="FFD2C0">
                <a:alpha val="0"/>
              </a:srgbClr>
            </a:solidFill>
            <a:prstDash val="solid"/>
          </a:ln>
        </p:spPr>
      </p:sp>
      <p:sp>
        <p:nvSpPr>
          <p:cNvPr id="10" name="Shape 8"/>
          <p:cNvSpPr/>
          <p:nvPr/>
        </p:nvSpPr>
        <p:spPr>
          <a:xfrm>
            <a:off x="1005840" y="2670048"/>
            <a:ext cx="457200" cy="457200"/>
          </a:xfrm>
          <a:prstGeom prst="ellipse">
            <a:avLst/>
          </a:prstGeom>
          <a:solidFill>
            <a:srgbClr val="FFFFFF"/>
          </a:solidFill>
          <a:ln w="12700">
            <a:solidFill>
              <a:srgbClr val="FFFFFF">
                <a:alpha val="0"/>
              </a:srgbClr>
            </a:solidFill>
            <a:prstDash val="solid"/>
          </a:ln>
        </p:spPr>
      </p:sp>
      <p:sp>
        <p:nvSpPr>
          <p:cNvPr id="11" name="Text 9"/>
          <p:cNvSpPr/>
          <p:nvPr/>
        </p:nvSpPr>
        <p:spPr>
          <a:xfrm>
            <a:off x="1005840" y="2807208"/>
            <a:ext cx="457200" cy="146304"/>
          </a:xfrm>
          <a:prstGeom prst="rect">
            <a:avLst/>
          </a:prstGeom>
          <a:noFill/>
          <a:ln/>
        </p:spPr>
        <p:txBody>
          <a:bodyPr wrap="square" lIns="0" tIns="0" rIns="0" bIns="0" rtlCol="0" anchor="ctr"/>
          <a:lstStyle/>
          <a:p>
            <a:pPr algn="ctr" indent="0" marL="0">
              <a:buNone/>
            </a:pPr>
            <a:r>
              <a:rPr lang="en-US" sz="1000" b="1" dirty="0">
                <a:solidFill>
                  <a:srgbClr val="CC4009"/>
                </a:solidFill>
                <a:latin typeface="Inter" pitchFamily="34" charset="0"/>
                <a:ea typeface="Inter" pitchFamily="34" charset="-122"/>
                <a:cs typeface="Inter" pitchFamily="34" charset="-120"/>
              </a:rPr>
              <a:t>02</a:t>
            </a:r>
            <a:endParaRPr lang="en-US" sz="1000" dirty="0"/>
          </a:p>
        </p:txBody>
      </p:sp>
      <p:sp>
        <p:nvSpPr>
          <p:cNvPr id="12" name="Text 10"/>
          <p:cNvSpPr/>
          <p:nvPr/>
        </p:nvSpPr>
        <p:spPr>
          <a:xfrm>
            <a:off x="1737360" y="2761488"/>
            <a:ext cx="2194560" cy="20116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Hours and photos</a:t>
            </a:r>
            <a:endParaRPr lang="en-US" sz="1600" dirty="0"/>
          </a:p>
        </p:txBody>
      </p:sp>
      <p:sp>
        <p:nvSpPr>
          <p:cNvPr id="13" name="Shape 11"/>
          <p:cNvSpPr/>
          <p:nvPr/>
        </p:nvSpPr>
        <p:spPr>
          <a:xfrm>
            <a:off x="1225296" y="3127248"/>
            <a:ext cx="18288" cy="347472"/>
          </a:xfrm>
          <a:prstGeom prst="line">
            <a:avLst/>
          </a:prstGeom>
          <a:solidFill>
            <a:srgbClr val="FFD2C0"/>
          </a:solidFill>
          <a:ln w="12700">
            <a:solidFill>
              <a:srgbClr val="FFD2C0">
                <a:alpha val="0"/>
              </a:srgbClr>
            </a:solidFill>
            <a:prstDash val="solid"/>
          </a:ln>
        </p:spPr>
      </p:sp>
      <p:sp>
        <p:nvSpPr>
          <p:cNvPr id="14" name="Shape 12"/>
          <p:cNvSpPr/>
          <p:nvPr/>
        </p:nvSpPr>
        <p:spPr>
          <a:xfrm>
            <a:off x="1005840" y="3465576"/>
            <a:ext cx="457200" cy="457200"/>
          </a:xfrm>
          <a:prstGeom prst="ellipse">
            <a:avLst/>
          </a:prstGeom>
          <a:solidFill>
            <a:srgbClr val="FFFFFF"/>
          </a:solidFill>
          <a:ln w="12700">
            <a:solidFill>
              <a:srgbClr val="FFFFFF">
                <a:alpha val="0"/>
              </a:srgbClr>
            </a:solidFill>
            <a:prstDash val="solid"/>
          </a:ln>
        </p:spPr>
      </p:sp>
      <p:sp>
        <p:nvSpPr>
          <p:cNvPr id="15" name="Text 13"/>
          <p:cNvSpPr/>
          <p:nvPr/>
        </p:nvSpPr>
        <p:spPr>
          <a:xfrm>
            <a:off x="1005840" y="3602736"/>
            <a:ext cx="457200" cy="146304"/>
          </a:xfrm>
          <a:prstGeom prst="rect">
            <a:avLst/>
          </a:prstGeom>
          <a:noFill/>
          <a:ln/>
        </p:spPr>
        <p:txBody>
          <a:bodyPr wrap="square" lIns="0" tIns="0" rIns="0" bIns="0" rtlCol="0" anchor="ctr"/>
          <a:lstStyle/>
          <a:p>
            <a:pPr algn="ctr" indent="0" marL="0">
              <a:buNone/>
            </a:pPr>
            <a:r>
              <a:rPr lang="en-US" sz="1000" b="1" dirty="0">
                <a:solidFill>
                  <a:srgbClr val="CC4009"/>
                </a:solidFill>
                <a:latin typeface="Inter" pitchFamily="34" charset="0"/>
                <a:ea typeface="Inter" pitchFamily="34" charset="-122"/>
                <a:cs typeface="Inter" pitchFamily="34" charset="-120"/>
              </a:rPr>
              <a:t>03</a:t>
            </a:r>
            <a:endParaRPr lang="en-US" sz="1000" dirty="0"/>
          </a:p>
        </p:txBody>
      </p:sp>
      <p:sp>
        <p:nvSpPr>
          <p:cNvPr id="16" name="Text 14"/>
          <p:cNvSpPr/>
          <p:nvPr/>
        </p:nvSpPr>
        <p:spPr>
          <a:xfrm>
            <a:off x="1737360" y="3557016"/>
            <a:ext cx="2194560" cy="20116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GPS location</a:t>
            </a:r>
            <a:endParaRPr lang="en-US" sz="1600" dirty="0"/>
          </a:p>
        </p:txBody>
      </p:sp>
      <p:sp>
        <p:nvSpPr>
          <p:cNvPr id="17" name="Shape 15"/>
          <p:cNvSpPr/>
          <p:nvPr/>
        </p:nvSpPr>
        <p:spPr>
          <a:xfrm>
            <a:off x="1225296" y="3922776"/>
            <a:ext cx="18288" cy="347472"/>
          </a:xfrm>
          <a:prstGeom prst="line">
            <a:avLst/>
          </a:prstGeom>
          <a:solidFill>
            <a:srgbClr val="FFD2C0"/>
          </a:solidFill>
          <a:ln w="12700">
            <a:solidFill>
              <a:srgbClr val="FFD2C0">
                <a:alpha val="0"/>
              </a:srgbClr>
            </a:solidFill>
            <a:prstDash val="solid"/>
          </a:ln>
        </p:spPr>
      </p:sp>
      <p:sp>
        <p:nvSpPr>
          <p:cNvPr id="18" name="Shape 16"/>
          <p:cNvSpPr/>
          <p:nvPr/>
        </p:nvSpPr>
        <p:spPr>
          <a:xfrm>
            <a:off x="1005840" y="4261104"/>
            <a:ext cx="457200" cy="457200"/>
          </a:xfrm>
          <a:prstGeom prst="ellipse">
            <a:avLst/>
          </a:prstGeom>
          <a:solidFill>
            <a:srgbClr val="FFFFFF"/>
          </a:solidFill>
          <a:ln w="12700">
            <a:solidFill>
              <a:srgbClr val="FFFFFF">
                <a:alpha val="0"/>
              </a:srgbClr>
            </a:solidFill>
            <a:prstDash val="solid"/>
          </a:ln>
        </p:spPr>
      </p:sp>
      <p:sp>
        <p:nvSpPr>
          <p:cNvPr id="19" name="Text 17"/>
          <p:cNvSpPr/>
          <p:nvPr/>
        </p:nvSpPr>
        <p:spPr>
          <a:xfrm>
            <a:off x="1005840" y="4398264"/>
            <a:ext cx="457200" cy="146304"/>
          </a:xfrm>
          <a:prstGeom prst="rect">
            <a:avLst/>
          </a:prstGeom>
          <a:noFill/>
          <a:ln/>
        </p:spPr>
        <p:txBody>
          <a:bodyPr wrap="square" lIns="0" tIns="0" rIns="0" bIns="0" rtlCol="0" anchor="ctr"/>
          <a:lstStyle/>
          <a:p>
            <a:pPr algn="ctr" indent="0" marL="0">
              <a:buNone/>
            </a:pPr>
            <a:r>
              <a:rPr lang="en-US" sz="1000" b="1" dirty="0">
                <a:solidFill>
                  <a:srgbClr val="CC4009"/>
                </a:solidFill>
                <a:latin typeface="Inter" pitchFamily="34" charset="0"/>
                <a:ea typeface="Inter" pitchFamily="34" charset="-122"/>
                <a:cs typeface="Inter" pitchFamily="34" charset="-120"/>
              </a:rPr>
              <a:t>04</a:t>
            </a:r>
            <a:endParaRPr lang="en-US" sz="1000" dirty="0"/>
          </a:p>
        </p:txBody>
      </p:sp>
      <p:sp>
        <p:nvSpPr>
          <p:cNvPr id="20" name="Text 18"/>
          <p:cNvSpPr/>
          <p:nvPr/>
        </p:nvSpPr>
        <p:spPr>
          <a:xfrm>
            <a:off x="1737360" y="4352544"/>
            <a:ext cx="2194560" cy="201168"/>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Approval</a:t>
            </a:r>
            <a:endParaRPr lang="en-US" sz="1600" dirty="0"/>
          </a:p>
        </p:txBody>
      </p:sp>
      <p:sp>
        <p:nvSpPr>
          <p:cNvPr id="21" name="Shape 19"/>
          <p:cNvSpPr/>
          <p:nvPr/>
        </p:nvSpPr>
        <p:spPr>
          <a:xfrm>
            <a:off x="6492240" y="1828800"/>
            <a:ext cx="4160520" cy="2606040"/>
          </a:xfrm>
          <a:prstGeom prst="roundRect">
            <a:avLst/>
          </a:prstGeom>
          <a:solidFill>
            <a:srgbClr val="FFFFFF"/>
          </a:solidFill>
          <a:ln w="12700">
            <a:solidFill>
              <a:srgbClr val="FFFFFF">
                <a:alpha val="0"/>
              </a:srgbClr>
            </a:solidFill>
            <a:prstDash val="solid"/>
          </a:ln>
        </p:spPr>
      </p:sp>
      <p:sp>
        <p:nvSpPr>
          <p:cNvPr id="22" name="Text 20"/>
          <p:cNvSpPr/>
          <p:nvPr/>
        </p:nvSpPr>
        <p:spPr>
          <a:xfrm>
            <a:off x="6903720" y="2267712"/>
            <a:ext cx="1005840" cy="182880"/>
          </a:xfrm>
          <a:prstGeom prst="rect">
            <a:avLst/>
          </a:prstGeom>
          <a:noFill/>
          <a:ln/>
        </p:spPr>
        <p:txBody>
          <a:bodyPr wrap="square" lIns="0" tIns="0" rIns="0" bIns="0" rtlCol="0" anchor="ctr"/>
          <a:lstStyle/>
          <a:p>
            <a:pPr algn="ctr" indent="0" marL="0">
              <a:buNone/>
            </a:pPr>
            <a:r>
              <a:rPr lang="en-US" sz="1500" b="1" dirty="0">
                <a:solidFill>
                  <a:srgbClr val="CC4009"/>
                </a:solidFill>
                <a:latin typeface="Inter" pitchFamily="34" charset="0"/>
                <a:ea typeface="Inter" pitchFamily="34" charset="-122"/>
                <a:cs typeface="Inter" pitchFamily="34" charset="-120"/>
              </a:rPr>
              <a:t>Submitted</a:t>
            </a:r>
            <a:endParaRPr lang="en-US" sz="1500" dirty="0"/>
          </a:p>
        </p:txBody>
      </p:sp>
      <p:sp>
        <p:nvSpPr>
          <p:cNvPr id="23" name="Shape 21"/>
          <p:cNvSpPr/>
          <p:nvPr/>
        </p:nvSpPr>
        <p:spPr>
          <a:xfrm>
            <a:off x="7909560" y="2240280"/>
            <a:ext cx="640080" cy="201168"/>
          </a:xfrm>
          <a:prstGeom prst="rightArrow">
            <a:avLst/>
          </a:prstGeom>
          <a:solidFill>
            <a:srgbClr val="FF6B35"/>
          </a:solidFill>
          <a:ln w="12700">
            <a:solidFill>
              <a:srgbClr val="FF6B35">
                <a:alpha val="0"/>
              </a:srgbClr>
            </a:solidFill>
            <a:prstDash val="solid"/>
          </a:ln>
        </p:spPr>
      </p:sp>
      <p:sp>
        <p:nvSpPr>
          <p:cNvPr id="24" name="Text 22"/>
          <p:cNvSpPr/>
          <p:nvPr/>
        </p:nvSpPr>
        <p:spPr>
          <a:xfrm>
            <a:off x="8458200" y="2267712"/>
            <a:ext cx="1234440" cy="182880"/>
          </a:xfrm>
          <a:prstGeom prst="rect">
            <a:avLst/>
          </a:prstGeom>
          <a:noFill/>
          <a:ln/>
        </p:spPr>
        <p:txBody>
          <a:bodyPr wrap="square" lIns="0" tIns="0" rIns="0" bIns="0" rtlCol="0" anchor="ctr"/>
          <a:lstStyle/>
          <a:p>
            <a:pPr algn="ctr" indent="0" marL="0">
              <a:buNone/>
            </a:pPr>
            <a:r>
              <a:rPr lang="en-US" sz="1500" b="1" dirty="0">
                <a:solidFill>
                  <a:srgbClr val="CC4009"/>
                </a:solidFill>
                <a:latin typeface="Inter" pitchFamily="34" charset="0"/>
                <a:ea typeface="Inter" pitchFamily="34" charset="-122"/>
                <a:cs typeface="Inter" pitchFamily="34" charset="-120"/>
              </a:rPr>
              <a:t>Admin review</a:t>
            </a:r>
            <a:endParaRPr lang="en-US" sz="1500" dirty="0"/>
          </a:p>
        </p:txBody>
      </p:sp>
      <p:sp>
        <p:nvSpPr>
          <p:cNvPr id="25" name="Shape 23"/>
          <p:cNvSpPr/>
          <p:nvPr/>
        </p:nvSpPr>
        <p:spPr>
          <a:xfrm>
            <a:off x="9555480" y="2240280"/>
            <a:ext cx="640080" cy="201168"/>
          </a:xfrm>
          <a:prstGeom prst="rightArrow">
            <a:avLst/>
          </a:prstGeom>
          <a:solidFill>
            <a:srgbClr val="FF6B35"/>
          </a:solidFill>
          <a:ln w="12700">
            <a:solidFill>
              <a:srgbClr val="FF6B35">
                <a:alpha val="0"/>
              </a:srgbClr>
            </a:solidFill>
            <a:prstDash val="solid"/>
          </a:ln>
        </p:spPr>
      </p:sp>
      <p:sp>
        <p:nvSpPr>
          <p:cNvPr id="26" name="Shape 24"/>
          <p:cNvSpPr/>
          <p:nvPr/>
        </p:nvSpPr>
        <p:spPr>
          <a:xfrm>
            <a:off x="8229600" y="3017520"/>
            <a:ext cx="1188720" cy="292608"/>
          </a:xfrm>
          <a:prstGeom prst="roundRect">
            <a:avLst/>
          </a:prstGeom>
          <a:solidFill>
            <a:srgbClr val="178B52"/>
          </a:solidFill>
          <a:ln w="12700">
            <a:solidFill>
              <a:srgbClr val="178B52">
                <a:alpha val="0"/>
              </a:srgbClr>
            </a:solidFill>
            <a:prstDash val="solid"/>
          </a:ln>
        </p:spPr>
      </p:sp>
      <p:sp>
        <p:nvSpPr>
          <p:cNvPr id="27" name="Text 25"/>
          <p:cNvSpPr/>
          <p:nvPr/>
        </p:nvSpPr>
        <p:spPr>
          <a:xfrm>
            <a:off x="8229600" y="3067812"/>
            <a:ext cx="118872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Approved</a:t>
            </a:r>
            <a:endParaRPr lang="en-US" sz="900" dirty="0"/>
          </a:p>
        </p:txBody>
      </p:sp>
      <p:sp>
        <p:nvSpPr>
          <p:cNvPr id="28" name="Text 26"/>
          <p:cNvSpPr/>
          <p:nvPr/>
        </p:nvSpPr>
        <p:spPr>
          <a:xfrm>
            <a:off x="6995160" y="3703320"/>
            <a:ext cx="3154680" cy="182880"/>
          </a:xfrm>
          <a:prstGeom prst="rect">
            <a:avLst/>
          </a:prstGeom>
          <a:noFill/>
          <a:ln/>
        </p:spPr>
        <p:txBody>
          <a:bodyPr wrap="square" lIns="0" tIns="0" rIns="0" bIns="0" rtlCol="0" anchor="ctr"/>
          <a:lstStyle/>
          <a:p>
            <a:pPr algn="ctr" indent="0" marL="0">
              <a:buNone/>
            </a:pPr>
            <a:r>
              <a:rPr lang="en-US" sz="1100" dirty="0">
                <a:solidFill>
                  <a:srgbClr val="747474"/>
                </a:solidFill>
                <a:latin typeface="Inter" pitchFamily="34" charset="0"/>
                <a:ea typeface="Inter" pitchFamily="34" charset="-122"/>
                <a:cs typeface="Inter" pitchFamily="34" charset="-120"/>
              </a:rPr>
              <a:t>Rejection reason appears if needed</a:t>
            </a:r>
            <a:endParaRPr lang="en-US" sz="1100" dirty="0"/>
          </a:p>
        </p:txBody>
      </p:sp>
      <p:sp>
        <p:nvSpPr>
          <p:cNvPr id="29" name="Shape 27"/>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30" name="Text 28"/>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31" name="Text 29"/>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C4009"/>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FF6B35"/>
          </a:solidFill>
          <a:ln w="12700">
            <a:solidFill>
              <a:srgbClr val="FF6B35">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Vendor</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Inter" pitchFamily="34" charset="0"/>
                <a:ea typeface="Inter" pitchFamily="34" charset="-122"/>
                <a:cs typeface="Inter" pitchFamily="34" charset="-120"/>
              </a:rPr>
              <a:t>Flip the sign. Change the city.</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F8D4C8"/>
                </a:solidFill>
                <a:latin typeface="Inter" pitchFamily="34" charset="0"/>
                <a:ea typeface="Inter" pitchFamily="34" charset="-122"/>
                <a:cs typeface="Inter" pitchFamily="34" charset="-120"/>
              </a:rPr>
              <a:t>One big control updates customers instantly</a:t>
            </a:r>
            <a:endParaRPr lang="en-US" sz="1200" dirty="0"/>
          </a:p>
        </p:txBody>
      </p:sp>
      <p:sp>
        <p:nvSpPr>
          <p:cNvPr id="6" name="Shape 4"/>
          <p:cNvSpPr/>
          <p:nvPr/>
        </p:nvSpPr>
        <p:spPr>
          <a:xfrm>
            <a:off x="3886200" y="1965960"/>
            <a:ext cx="4434840" cy="1965960"/>
          </a:xfrm>
          <a:prstGeom prst="roundRect">
            <a:avLst/>
          </a:prstGeom>
          <a:solidFill>
            <a:srgbClr val="F89A73"/>
          </a:solidFill>
          <a:ln w="12700">
            <a:solidFill>
              <a:srgbClr val="F89A73">
                <a:alpha val="0"/>
              </a:srgbClr>
            </a:solidFill>
            <a:prstDash val="solid"/>
          </a:ln>
        </p:spPr>
      </p:sp>
      <p:sp>
        <p:nvSpPr>
          <p:cNvPr id="7" name="Shape 5"/>
          <p:cNvSpPr/>
          <p:nvPr/>
        </p:nvSpPr>
        <p:spPr>
          <a:xfrm>
            <a:off x="6263640" y="2148840"/>
            <a:ext cx="1600200" cy="1600200"/>
          </a:xfrm>
          <a:prstGeom prst="ellipse">
            <a:avLst/>
          </a:prstGeom>
          <a:solidFill>
            <a:srgbClr val="FFFFFF"/>
          </a:solidFill>
          <a:ln w="12700">
            <a:solidFill>
              <a:srgbClr val="FFFFFF">
                <a:alpha val="0"/>
              </a:srgbClr>
            </a:solidFill>
            <a:prstDash val="solid"/>
          </a:ln>
        </p:spPr>
      </p:sp>
      <p:sp>
        <p:nvSpPr>
          <p:cNvPr id="8" name="Text 6"/>
          <p:cNvSpPr/>
          <p:nvPr/>
        </p:nvSpPr>
        <p:spPr>
          <a:xfrm>
            <a:off x="4434840" y="2679192"/>
            <a:ext cx="1554480" cy="256032"/>
          </a:xfrm>
          <a:prstGeom prst="rect">
            <a:avLst/>
          </a:prstGeom>
          <a:noFill/>
          <a:ln/>
        </p:spPr>
        <p:txBody>
          <a:bodyPr wrap="square" lIns="0" tIns="0" rIns="0" bIns="0" rtlCol="0" anchor="ctr"/>
          <a:lstStyle/>
          <a:p>
            <a:pPr algn="ctr" indent="0" marL="0">
              <a:buNone/>
            </a:pPr>
            <a:r>
              <a:rPr lang="en-US" sz="2500" b="1" dirty="0">
                <a:solidFill>
                  <a:srgbClr val="FFFFFF"/>
                </a:solidFill>
                <a:latin typeface="Inter" pitchFamily="34" charset="0"/>
                <a:ea typeface="Inter" pitchFamily="34" charset="-122"/>
                <a:cs typeface="Inter" pitchFamily="34" charset="-120"/>
              </a:rPr>
              <a:t>OPEN</a:t>
            </a:r>
            <a:endParaRPr lang="en-US" sz="2500" dirty="0"/>
          </a:p>
        </p:txBody>
      </p:sp>
      <p:sp>
        <p:nvSpPr>
          <p:cNvPr id="9" name="Shape 7"/>
          <p:cNvSpPr/>
          <p:nvPr/>
        </p:nvSpPr>
        <p:spPr>
          <a:xfrm>
            <a:off x="4343400" y="4315968"/>
            <a:ext cx="3474720" cy="292608"/>
          </a:xfrm>
          <a:prstGeom prst="roundRect">
            <a:avLst/>
          </a:prstGeom>
          <a:solidFill>
            <a:srgbClr val="178B52"/>
          </a:solidFill>
          <a:ln w="12700">
            <a:solidFill>
              <a:srgbClr val="178B52">
                <a:alpha val="0"/>
              </a:srgbClr>
            </a:solidFill>
            <a:prstDash val="solid"/>
          </a:ln>
        </p:spPr>
      </p:sp>
      <p:sp>
        <p:nvSpPr>
          <p:cNvPr id="10" name="Text 8"/>
          <p:cNvSpPr/>
          <p:nvPr/>
        </p:nvSpPr>
        <p:spPr>
          <a:xfrm>
            <a:off x="4343400" y="4366260"/>
            <a:ext cx="347472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Customers see it instantly</a:t>
            </a:r>
            <a:endParaRPr lang="en-US" sz="900" dirty="0"/>
          </a:p>
        </p:txBody>
      </p:sp>
      <p:sp>
        <p:nvSpPr>
          <p:cNvPr id="11" name="Shape 9"/>
          <p:cNvSpPr/>
          <p:nvPr/>
        </p:nvSpPr>
        <p:spPr>
          <a:xfrm>
            <a:off x="731520" y="4800600"/>
            <a:ext cx="384048" cy="384048"/>
          </a:xfrm>
          <a:prstGeom prst="ellipse">
            <a:avLst/>
          </a:prstGeom>
          <a:solidFill>
            <a:srgbClr val="FFD2C0"/>
          </a:solidFill>
          <a:ln w="12700">
            <a:solidFill>
              <a:srgbClr val="FFD2C0">
                <a:alpha val="0"/>
              </a:srgbClr>
            </a:solidFill>
            <a:prstDash val="solid"/>
          </a:ln>
        </p:spPr>
      </p:sp>
      <p:sp>
        <p:nvSpPr>
          <p:cNvPr id="12" name="Text 10"/>
          <p:cNvSpPr/>
          <p:nvPr/>
        </p:nvSpPr>
        <p:spPr>
          <a:xfrm>
            <a:off x="1243584" y="4754880"/>
            <a:ext cx="1371600" cy="16459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Move</a:t>
            </a:r>
            <a:endParaRPr lang="en-US" sz="1300" dirty="0"/>
          </a:p>
        </p:txBody>
      </p:sp>
      <p:sp>
        <p:nvSpPr>
          <p:cNvPr id="13" name="Text 11"/>
          <p:cNvSpPr/>
          <p:nvPr/>
        </p:nvSpPr>
        <p:spPr>
          <a:xfrm>
            <a:off x="1243584" y="5001768"/>
            <a:ext cx="1737360" cy="164592"/>
          </a:xfrm>
          <a:prstGeom prst="rect">
            <a:avLst/>
          </a:prstGeom>
          <a:noFill/>
          <a:ln/>
        </p:spPr>
        <p:txBody>
          <a:bodyPr wrap="square" lIns="0" tIns="0" rIns="0" bIns="0" rtlCol="0" anchor="ctr"/>
          <a:lstStyle/>
          <a:p>
            <a:pPr indent="0" marL="0">
              <a:buNone/>
            </a:pPr>
            <a:r>
              <a:rPr lang="en-US" sz="1000" dirty="0">
                <a:solidFill>
                  <a:srgbClr val="FFD2C0"/>
                </a:solidFill>
                <a:latin typeface="Inter" pitchFamily="34" charset="0"/>
                <a:ea typeface="Inter" pitchFamily="34" charset="-122"/>
                <a:cs typeface="Inter" pitchFamily="34" charset="-120"/>
              </a:rPr>
              <a:t>Update location</a:t>
            </a:r>
            <a:endParaRPr lang="en-US" sz="1000" dirty="0"/>
          </a:p>
        </p:txBody>
      </p:sp>
      <p:sp>
        <p:nvSpPr>
          <p:cNvPr id="14" name="Shape 12"/>
          <p:cNvSpPr/>
          <p:nvPr/>
        </p:nvSpPr>
        <p:spPr>
          <a:xfrm>
            <a:off x="3566160" y="4800600"/>
            <a:ext cx="384048" cy="384048"/>
          </a:xfrm>
          <a:prstGeom prst="ellipse">
            <a:avLst/>
          </a:prstGeom>
          <a:solidFill>
            <a:srgbClr val="FFD2C0"/>
          </a:solidFill>
          <a:ln w="12700">
            <a:solidFill>
              <a:srgbClr val="FFD2C0">
                <a:alpha val="0"/>
              </a:srgbClr>
            </a:solidFill>
            <a:prstDash val="solid"/>
          </a:ln>
        </p:spPr>
      </p:sp>
      <p:sp>
        <p:nvSpPr>
          <p:cNvPr id="15" name="Text 13"/>
          <p:cNvSpPr/>
          <p:nvPr/>
        </p:nvSpPr>
        <p:spPr>
          <a:xfrm>
            <a:off x="4078224" y="4754880"/>
            <a:ext cx="1371600" cy="16459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Edit</a:t>
            </a:r>
            <a:endParaRPr lang="en-US" sz="1300" dirty="0"/>
          </a:p>
        </p:txBody>
      </p:sp>
      <p:sp>
        <p:nvSpPr>
          <p:cNvPr id="16" name="Text 14"/>
          <p:cNvSpPr/>
          <p:nvPr/>
        </p:nvSpPr>
        <p:spPr>
          <a:xfrm>
            <a:off x="4078224" y="5001768"/>
            <a:ext cx="1737360" cy="164592"/>
          </a:xfrm>
          <a:prstGeom prst="rect">
            <a:avLst/>
          </a:prstGeom>
          <a:noFill/>
          <a:ln/>
        </p:spPr>
        <p:txBody>
          <a:bodyPr wrap="square" lIns="0" tIns="0" rIns="0" bIns="0" rtlCol="0" anchor="ctr"/>
          <a:lstStyle/>
          <a:p>
            <a:pPr indent="0" marL="0">
              <a:buNone/>
            </a:pPr>
            <a:r>
              <a:rPr lang="en-US" sz="1000" dirty="0">
                <a:solidFill>
                  <a:srgbClr val="FFD2C0"/>
                </a:solidFill>
                <a:latin typeface="Inter" pitchFamily="34" charset="0"/>
                <a:ea typeface="Inter" pitchFamily="34" charset="-122"/>
                <a:cs typeface="Inter" pitchFamily="34" charset="-120"/>
              </a:rPr>
              <a:t>Details, hours, photos</a:t>
            </a:r>
            <a:endParaRPr lang="en-US" sz="1000" dirty="0"/>
          </a:p>
        </p:txBody>
      </p:sp>
      <p:sp>
        <p:nvSpPr>
          <p:cNvPr id="17" name="Shape 15"/>
          <p:cNvSpPr/>
          <p:nvPr/>
        </p:nvSpPr>
        <p:spPr>
          <a:xfrm>
            <a:off x="6400800" y="4800600"/>
            <a:ext cx="384048" cy="384048"/>
          </a:xfrm>
          <a:prstGeom prst="ellipse">
            <a:avLst/>
          </a:prstGeom>
          <a:solidFill>
            <a:srgbClr val="FFD2C0"/>
          </a:solidFill>
          <a:ln w="12700">
            <a:solidFill>
              <a:srgbClr val="FFD2C0">
                <a:alpha val="0"/>
              </a:srgbClr>
            </a:solidFill>
            <a:prstDash val="solid"/>
          </a:ln>
        </p:spPr>
      </p:sp>
      <p:sp>
        <p:nvSpPr>
          <p:cNvPr id="18" name="Text 16"/>
          <p:cNvSpPr/>
          <p:nvPr/>
        </p:nvSpPr>
        <p:spPr>
          <a:xfrm>
            <a:off x="6912864" y="4754880"/>
            <a:ext cx="1371600" cy="16459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Badge</a:t>
            </a:r>
            <a:endParaRPr lang="en-US" sz="1300" dirty="0"/>
          </a:p>
        </p:txBody>
      </p:sp>
      <p:sp>
        <p:nvSpPr>
          <p:cNvPr id="19" name="Text 17"/>
          <p:cNvSpPr/>
          <p:nvPr/>
        </p:nvSpPr>
        <p:spPr>
          <a:xfrm>
            <a:off x="6912864" y="5001768"/>
            <a:ext cx="1737360" cy="164592"/>
          </a:xfrm>
          <a:prstGeom prst="rect">
            <a:avLst/>
          </a:prstGeom>
          <a:noFill/>
          <a:ln/>
        </p:spPr>
        <p:txBody>
          <a:bodyPr wrap="square" lIns="0" tIns="0" rIns="0" bIns="0" rtlCol="0" anchor="ctr"/>
          <a:lstStyle/>
          <a:p>
            <a:pPr indent="0" marL="0">
              <a:buNone/>
            </a:pPr>
            <a:r>
              <a:rPr lang="en-US" sz="1000" dirty="0">
                <a:solidFill>
                  <a:srgbClr val="FFD2C0"/>
                </a:solidFill>
                <a:latin typeface="Inter" pitchFamily="34" charset="0"/>
                <a:ea typeface="Inter" pitchFamily="34" charset="-122"/>
                <a:cs typeface="Inter" pitchFamily="34" charset="-120"/>
              </a:rPr>
              <a:t>Approved stall card</a:t>
            </a:r>
            <a:endParaRPr lang="en-US" sz="1000" dirty="0"/>
          </a:p>
        </p:txBody>
      </p:sp>
      <p:sp>
        <p:nvSpPr>
          <p:cNvPr id="20" name="Shape 18"/>
          <p:cNvSpPr/>
          <p:nvPr/>
        </p:nvSpPr>
        <p:spPr>
          <a:xfrm>
            <a:off x="9235440" y="4800600"/>
            <a:ext cx="384048" cy="384048"/>
          </a:xfrm>
          <a:prstGeom prst="ellipse">
            <a:avLst/>
          </a:prstGeom>
          <a:solidFill>
            <a:srgbClr val="FFD2C0"/>
          </a:solidFill>
          <a:ln w="12700">
            <a:solidFill>
              <a:srgbClr val="FFD2C0">
                <a:alpha val="0"/>
              </a:srgbClr>
            </a:solidFill>
            <a:prstDash val="solid"/>
          </a:ln>
        </p:spPr>
      </p:sp>
      <p:sp>
        <p:nvSpPr>
          <p:cNvPr id="21" name="Text 19"/>
          <p:cNvSpPr/>
          <p:nvPr/>
        </p:nvSpPr>
        <p:spPr>
          <a:xfrm>
            <a:off x="9747504" y="4754880"/>
            <a:ext cx="1371600" cy="16459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Profile</a:t>
            </a:r>
            <a:endParaRPr lang="en-US" sz="1300" dirty="0"/>
          </a:p>
        </p:txBody>
      </p:sp>
      <p:sp>
        <p:nvSpPr>
          <p:cNvPr id="22" name="Text 20"/>
          <p:cNvSpPr/>
          <p:nvPr/>
        </p:nvSpPr>
        <p:spPr>
          <a:xfrm>
            <a:off x="9747504" y="5001768"/>
            <a:ext cx="1737360" cy="164592"/>
          </a:xfrm>
          <a:prstGeom prst="rect">
            <a:avLst/>
          </a:prstGeom>
          <a:noFill/>
          <a:ln/>
        </p:spPr>
        <p:txBody>
          <a:bodyPr wrap="square" lIns="0" tIns="0" rIns="0" bIns="0" rtlCol="0" anchor="ctr"/>
          <a:lstStyle/>
          <a:p>
            <a:pPr indent="0" marL="0">
              <a:buNone/>
            </a:pPr>
            <a:r>
              <a:rPr lang="en-US" sz="1000" dirty="0">
                <a:solidFill>
                  <a:srgbClr val="FFD2C0"/>
                </a:solidFill>
                <a:latin typeface="Inter" pitchFamily="34" charset="0"/>
                <a:ea typeface="Inter" pitchFamily="34" charset="-122"/>
                <a:cs typeface="Inter" pitchFamily="34" charset="-120"/>
              </a:rPr>
              <a:t>Logout anytime</a:t>
            </a:r>
            <a:endParaRPr lang="en-US" sz="1000" dirty="0"/>
          </a:p>
        </p:txBody>
      </p:sp>
      <p:sp>
        <p:nvSpPr>
          <p:cNvPr id="23" name="Shape 21"/>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24" name="Text 22"/>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25" name="Text 23"/>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1F1F"/>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1F1F1F"/>
          </a:solidFill>
          <a:ln w="12700">
            <a:solidFill>
              <a:srgbClr val="1F1F1F">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Admin</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Inter" pitchFamily="34" charset="0"/>
                <a:ea typeface="Inter" pitchFamily="34" charset="-122"/>
                <a:cs typeface="Inter" pitchFamily="34" charset="-120"/>
              </a:rPr>
              <a:t>Keep the marketplace moving.</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F8D4C8"/>
                </a:solidFill>
                <a:latin typeface="Inter" pitchFamily="34" charset="0"/>
                <a:ea typeface="Inter" pitchFamily="34" charset="-122"/>
                <a:cs typeface="Inter" pitchFamily="34" charset="-120"/>
              </a:rPr>
              <a:t>Attention first, then the full picture</a:t>
            </a:r>
            <a:endParaRPr lang="en-US" sz="1200" dirty="0"/>
          </a:p>
        </p:txBody>
      </p:sp>
      <p:sp>
        <p:nvSpPr>
          <p:cNvPr id="6" name="Shape 4"/>
          <p:cNvSpPr/>
          <p:nvPr/>
        </p:nvSpPr>
        <p:spPr>
          <a:xfrm>
            <a:off x="594360" y="1700784"/>
            <a:ext cx="2286000" cy="292608"/>
          </a:xfrm>
          <a:prstGeom prst="roundRect">
            <a:avLst/>
          </a:prstGeom>
          <a:solidFill>
            <a:srgbClr val="FF6B35"/>
          </a:solidFill>
          <a:ln w="12700">
            <a:solidFill>
              <a:srgbClr val="FF6B35">
                <a:alpha val="0"/>
              </a:srgbClr>
            </a:solidFill>
            <a:prstDash val="solid"/>
          </a:ln>
        </p:spPr>
      </p:sp>
      <p:sp>
        <p:nvSpPr>
          <p:cNvPr id="7" name="Text 5"/>
          <p:cNvSpPr/>
          <p:nvPr/>
        </p:nvSpPr>
        <p:spPr>
          <a:xfrm>
            <a:off x="594360" y="1751076"/>
            <a:ext cx="228600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STALLS WAITING APPROVAL</a:t>
            </a:r>
            <a:endParaRPr lang="en-US" sz="900" dirty="0"/>
          </a:p>
        </p:txBody>
      </p:sp>
      <p:sp>
        <p:nvSpPr>
          <p:cNvPr id="8" name="Shape 6"/>
          <p:cNvSpPr/>
          <p:nvPr/>
        </p:nvSpPr>
        <p:spPr>
          <a:xfrm>
            <a:off x="594360" y="2240280"/>
            <a:ext cx="1691640" cy="786384"/>
          </a:xfrm>
          <a:prstGeom prst="roundRect">
            <a:avLst/>
          </a:prstGeom>
          <a:solidFill>
            <a:srgbClr val="303030"/>
          </a:solidFill>
          <a:ln w="12700">
            <a:solidFill>
              <a:srgbClr val="303030">
                <a:alpha val="0"/>
              </a:srgbClr>
            </a:solidFill>
            <a:prstDash val="solid"/>
          </a:ln>
        </p:spPr>
      </p:sp>
      <p:sp>
        <p:nvSpPr>
          <p:cNvPr id="9" name="Shape 7"/>
          <p:cNvSpPr/>
          <p:nvPr/>
        </p:nvSpPr>
        <p:spPr>
          <a:xfrm>
            <a:off x="758952" y="2441448"/>
            <a:ext cx="292608" cy="292608"/>
          </a:xfrm>
          <a:prstGeom prst="ellipse">
            <a:avLst/>
          </a:prstGeom>
          <a:solidFill>
            <a:srgbClr val="FF6B35"/>
          </a:solidFill>
          <a:ln w="12700">
            <a:solidFill>
              <a:srgbClr val="FF6B35">
                <a:alpha val="0"/>
              </a:srgbClr>
            </a:solidFill>
            <a:prstDash val="solid"/>
          </a:ln>
        </p:spPr>
      </p:sp>
      <p:sp>
        <p:nvSpPr>
          <p:cNvPr id="10" name="Text 8"/>
          <p:cNvSpPr/>
          <p:nvPr/>
        </p:nvSpPr>
        <p:spPr>
          <a:xfrm>
            <a:off x="1161288" y="2468880"/>
            <a:ext cx="987552" cy="201168"/>
          </a:xfrm>
          <a:prstGeom prst="rect">
            <a:avLst/>
          </a:prstGeom>
          <a:noFill/>
          <a:ln/>
        </p:spPr>
        <p:txBody>
          <a:bodyPr wrap="square" lIns="0" tIns="0" rIns="0" bIns="0" rtlCol="0" anchor="ctr"/>
          <a:lstStyle/>
          <a:p>
            <a:pPr indent="0" marL="0">
              <a:buNone/>
            </a:pPr>
            <a:r>
              <a:rPr lang="en-US" sz="1000" b="1" dirty="0">
                <a:solidFill>
                  <a:srgbClr val="FFFFFF"/>
                </a:solidFill>
                <a:latin typeface="Inter" pitchFamily="34" charset="0"/>
                <a:ea typeface="Inter" pitchFamily="34" charset="-122"/>
                <a:cs typeface="Inter" pitchFamily="34" charset="-120"/>
              </a:rPr>
              <a:t>Customers</a:t>
            </a:r>
            <a:endParaRPr lang="en-US" sz="1000" dirty="0"/>
          </a:p>
        </p:txBody>
      </p:sp>
      <p:sp>
        <p:nvSpPr>
          <p:cNvPr id="11" name="Shape 9"/>
          <p:cNvSpPr/>
          <p:nvPr/>
        </p:nvSpPr>
        <p:spPr>
          <a:xfrm>
            <a:off x="2560320" y="2240280"/>
            <a:ext cx="1691640" cy="786384"/>
          </a:xfrm>
          <a:prstGeom prst="roundRect">
            <a:avLst/>
          </a:prstGeom>
          <a:solidFill>
            <a:srgbClr val="303030"/>
          </a:solidFill>
          <a:ln w="12700">
            <a:solidFill>
              <a:srgbClr val="303030">
                <a:alpha val="0"/>
              </a:srgbClr>
            </a:solidFill>
            <a:prstDash val="solid"/>
          </a:ln>
        </p:spPr>
      </p:sp>
      <p:sp>
        <p:nvSpPr>
          <p:cNvPr id="12" name="Shape 10"/>
          <p:cNvSpPr/>
          <p:nvPr/>
        </p:nvSpPr>
        <p:spPr>
          <a:xfrm>
            <a:off x="2724912" y="2441448"/>
            <a:ext cx="292608" cy="292608"/>
          </a:xfrm>
          <a:prstGeom prst="ellipse">
            <a:avLst/>
          </a:prstGeom>
          <a:solidFill>
            <a:srgbClr val="FF6B35"/>
          </a:solidFill>
          <a:ln w="12700">
            <a:solidFill>
              <a:srgbClr val="FF6B35">
                <a:alpha val="0"/>
              </a:srgbClr>
            </a:solidFill>
            <a:prstDash val="solid"/>
          </a:ln>
        </p:spPr>
      </p:sp>
      <p:sp>
        <p:nvSpPr>
          <p:cNvPr id="13" name="Text 11"/>
          <p:cNvSpPr/>
          <p:nvPr/>
        </p:nvSpPr>
        <p:spPr>
          <a:xfrm>
            <a:off x="3127248" y="2468880"/>
            <a:ext cx="987552" cy="201168"/>
          </a:xfrm>
          <a:prstGeom prst="rect">
            <a:avLst/>
          </a:prstGeom>
          <a:noFill/>
          <a:ln/>
        </p:spPr>
        <p:txBody>
          <a:bodyPr wrap="square" lIns="0" tIns="0" rIns="0" bIns="0" rtlCol="0" anchor="ctr"/>
          <a:lstStyle/>
          <a:p>
            <a:pPr indent="0" marL="0">
              <a:buNone/>
            </a:pPr>
            <a:r>
              <a:rPr lang="en-US" sz="1000" b="1" dirty="0">
                <a:solidFill>
                  <a:srgbClr val="FFFFFF"/>
                </a:solidFill>
                <a:latin typeface="Inter" pitchFamily="34" charset="0"/>
                <a:ea typeface="Inter" pitchFamily="34" charset="-122"/>
                <a:cs typeface="Inter" pitchFamily="34" charset="-120"/>
              </a:rPr>
              <a:t>Vendors</a:t>
            </a:r>
            <a:endParaRPr lang="en-US" sz="1000" dirty="0"/>
          </a:p>
        </p:txBody>
      </p:sp>
      <p:sp>
        <p:nvSpPr>
          <p:cNvPr id="14" name="Shape 12"/>
          <p:cNvSpPr/>
          <p:nvPr/>
        </p:nvSpPr>
        <p:spPr>
          <a:xfrm>
            <a:off x="4526280" y="2240280"/>
            <a:ext cx="1691640" cy="786384"/>
          </a:xfrm>
          <a:prstGeom prst="roundRect">
            <a:avLst/>
          </a:prstGeom>
          <a:solidFill>
            <a:srgbClr val="303030"/>
          </a:solidFill>
          <a:ln w="12700">
            <a:solidFill>
              <a:srgbClr val="303030">
                <a:alpha val="0"/>
              </a:srgbClr>
            </a:solidFill>
            <a:prstDash val="solid"/>
          </a:ln>
        </p:spPr>
      </p:sp>
      <p:sp>
        <p:nvSpPr>
          <p:cNvPr id="15" name="Shape 13"/>
          <p:cNvSpPr/>
          <p:nvPr/>
        </p:nvSpPr>
        <p:spPr>
          <a:xfrm>
            <a:off x="4690872" y="2441448"/>
            <a:ext cx="292608" cy="292608"/>
          </a:xfrm>
          <a:prstGeom prst="ellipse">
            <a:avLst/>
          </a:prstGeom>
          <a:solidFill>
            <a:srgbClr val="FF6B35"/>
          </a:solidFill>
          <a:ln w="12700">
            <a:solidFill>
              <a:srgbClr val="FF6B35">
                <a:alpha val="0"/>
              </a:srgbClr>
            </a:solidFill>
            <a:prstDash val="solid"/>
          </a:ln>
        </p:spPr>
      </p:sp>
      <p:sp>
        <p:nvSpPr>
          <p:cNvPr id="16" name="Text 14"/>
          <p:cNvSpPr/>
          <p:nvPr/>
        </p:nvSpPr>
        <p:spPr>
          <a:xfrm>
            <a:off x="5093208" y="2468880"/>
            <a:ext cx="987552" cy="201168"/>
          </a:xfrm>
          <a:prstGeom prst="rect">
            <a:avLst/>
          </a:prstGeom>
          <a:noFill/>
          <a:ln/>
        </p:spPr>
        <p:txBody>
          <a:bodyPr wrap="square" lIns="0" tIns="0" rIns="0" bIns="0" rtlCol="0" anchor="ctr"/>
          <a:lstStyle/>
          <a:p>
            <a:pPr indent="0" marL="0">
              <a:buNone/>
            </a:pPr>
            <a:r>
              <a:rPr lang="en-US" sz="1000" b="1" dirty="0">
                <a:solidFill>
                  <a:srgbClr val="FFFFFF"/>
                </a:solidFill>
                <a:latin typeface="Inter" pitchFamily="34" charset="0"/>
                <a:ea typeface="Inter" pitchFamily="34" charset="-122"/>
                <a:cs typeface="Inter" pitchFamily="34" charset="-120"/>
              </a:rPr>
              <a:t>Approved stalls</a:t>
            </a:r>
            <a:endParaRPr lang="en-US" sz="1000" dirty="0"/>
          </a:p>
        </p:txBody>
      </p:sp>
      <p:sp>
        <p:nvSpPr>
          <p:cNvPr id="17" name="Shape 15"/>
          <p:cNvSpPr/>
          <p:nvPr/>
        </p:nvSpPr>
        <p:spPr>
          <a:xfrm>
            <a:off x="594360" y="3291840"/>
            <a:ext cx="1691640" cy="786384"/>
          </a:xfrm>
          <a:prstGeom prst="roundRect">
            <a:avLst/>
          </a:prstGeom>
          <a:solidFill>
            <a:srgbClr val="303030"/>
          </a:solidFill>
          <a:ln w="12700">
            <a:solidFill>
              <a:srgbClr val="303030">
                <a:alpha val="0"/>
              </a:srgbClr>
            </a:solidFill>
            <a:prstDash val="solid"/>
          </a:ln>
        </p:spPr>
      </p:sp>
      <p:sp>
        <p:nvSpPr>
          <p:cNvPr id="18" name="Shape 16"/>
          <p:cNvSpPr/>
          <p:nvPr/>
        </p:nvSpPr>
        <p:spPr>
          <a:xfrm>
            <a:off x="758952" y="3493008"/>
            <a:ext cx="292608" cy="292608"/>
          </a:xfrm>
          <a:prstGeom prst="ellipse">
            <a:avLst/>
          </a:prstGeom>
          <a:solidFill>
            <a:srgbClr val="178B52"/>
          </a:solidFill>
          <a:ln w="12700">
            <a:solidFill>
              <a:srgbClr val="178B52">
                <a:alpha val="0"/>
              </a:srgbClr>
            </a:solidFill>
            <a:prstDash val="solid"/>
          </a:ln>
        </p:spPr>
      </p:sp>
      <p:sp>
        <p:nvSpPr>
          <p:cNvPr id="19" name="Text 17"/>
          <p:cNvSpPr/>
          <p:nvPr/>
        </p:nvSpPr>
        <p:spPr>
          <a:xfrm>
            <a:off x="1161288" y="3520440"/>
            <a:ext cx="987552" cy="201168"/>
          </a:xfrm>
          <a:prstGeom prst="rect">
            <a:avLst/>
          </a:prstGeom>
          <a:noFill/>
          <a:ln/>
        </p:spPr>
        <p:txBody>
          <a:bodyPr wrap="square" lIns="0" tIns="0" rIns="0" bIns="0" rtlCol="0" anchor="ctr"/>
          <a:lstStyle/>
          <a:p>
            <a:pPr indent="0" marL="0">
              <a:buNone/>
            </a:pPr>
            <a:r>
              <a:rPr lang="en-US" sz="1000" b="1" dirty="0">
                <a:solidFill>
                  <a:srgbClr val="FFFFFF"/>
                </a:solidFill>
                <a:latin typeface="Inter" pitchFamily="34" charset="0"/>
                <a:ea typeface="Inter" pitchFamily="34" charset="-122"/>
                <a:cs typeface="Inter" pitchFamily="34" charset="-120"/>
              </a:rPr>
              <a:t>Open right now</a:t>
            </a:r>
            <a:endParaRPr lang="en-US" sz="1000" dirty="0"/>
          </a:p>
        </p:txBody>
      </p:sp>
      <p:sp>
        <p:nvSpPr>
          <p:cNvPr id="20" name="Shape 18"/>
          <p:cNvSpPr/>
          <p:nvPr/>
        </p:nvSpPr>
        <p:spPr>
          <a:xfrm>
            <a:off x="2560320" y="3291840"/>
            <a:ext cx="1691640" cy="786384"/>
          </a:xfrm>
          <a:prstGeom prst="roundRect">
            <a:avLst/>
          </a:prstGeom>
          <a:solidFill>
            <a:srgbClr val="303030"/>
          </a:solidFill>
          <a:ln w="12700">
            <a:solidFill>
              <a:srgbClr val="303030">
                <a:alpha val="0"/>
              </a:srgbClr>
            </a:solidFill>
            <a:prstDash val="solid"/>
          </a:ln>
        </p:spPr>
      </p:sp>
      <p:sp>
        <p:nvSpPr>
          <p:cNvPr id="21" name="Shape 19"/>
          <p:cNvSpPr/>
          <p:nvPr/>
        </p:nvSpPr>
        <p:spPr>
          <a:xfrm>
            <a:off x="2724912" y="3493008"/>
            <a:ext cx="292608" cy="292608"/>
          </a:xfrm>
          <a:prstGeom prst="ellipse">
            <a:avLst/>
          </a:prstGeom>
          <a:solidFill>
            <a:srgbClr val="FF6B35"/>
          </a:solidFill>
          <a:ln w="12700">
            <a:solidFill>
              <a:srgbClr val="FF6B35">
                <a:alpha val="0"/>
              </a:srgbClr>
            </a:solidFill>
            <a:prstDash val="solid"/>
          </a:ln>
        </p:spPr>
      </p:sp>
      <p:sp>
        <p:nvSpPr>
          <p:cNvPr id="22" name="Text 20"/>
          <p:cNvSpPr/>
          <p:nvPr/>
        </p:nvSpPr>
        <p:spPr>
          <a:xfrm>
            <a:off x="3127248" y="3520440"/>
            <a:ext cx="987552" cy="201168"/>
          </a:xfrm>
          <a:prstGeom prst="rect">
            <a:avLst/>
          </a:prstGeom>
          <a:noFill/>
          <a:ln/>
        </p:spPr>
        <p:txBody>
          <a:bodyPr wrap="square" lIns="0" tIns="0" rIns="0" bIns="0" rtlCol="0" anchor="ctr"/>
          <a:lstStyle/>
          <a:p>
            <a:pPr indent="0" marL="0">
              <a:buNone/>
            </a:pPr>
            <a:r>
              <a:rPr lang="en-US" sz="1000" b="1" dirty="0">
                <a:solidFill>
                  <a:srgbClr val="FFFFFF"/>
                </a:solidFill>
                <a:latin typeface="Inter" pitchFamily="34" charset="0"/>
                <a:ea typeface="Inter" pitchFamily="34" charset="-122"/>
                <a:cs typeface="Inter" pitchFamily="34" charset="-120"/>
              </a:rPr>
              <a:t>Pending approval</a:t>
            </a:r>
            <a:endParaRPr lang="en-US" sz="1000" dirty="0"/>
          </a:p>
        </p:txBody>
      </p:sp>
      <p:sp>
        <p:nvSpPr>
          <p:cNvPr id="23" name="Shape 21"/>
          <p:cNvSpPr/>
          <p:nvPr/>
        </p:nvSpPr>
        <p:spPr>
          <a:xfrm>
            <a:off x="4526280" y="3291840"/>
            <a:ext cx="1691640" cy="786384"/>
          </a:xfrm>
          <a:prstGeom prst="roundRect">
            <a:avLst/>
          </a:prstGeom>
          <a:solidFill>
            <a:srgbClr val="303030"/>
          </a:solidFill>
          <a:ln w="12700">
            <a:solidFill>
              <a:srgbClr val="303030">
                <a:alpha val="0"/>
              </a:srgbClr>
            </a:solidFill>
            <a:prstDash val="solid"/>
          </a:ln>
        </p:spPr>
      </p:sp>
      <p:sp>
        <p:nvSpPr>
          <p:cNvPr id="24" name="Shape 22"/>
          <p:cNvSpPr/>
          <p:nvPr/>
        </p:nvSpPr>
        <p:spPr>
          <a:xfrm>
            <a:off x="4690872" y="3493008"/>
            <a:ext cx="292608" cy="292608"/>
          </a:xfrm>
          <a:prstGeom prst="ellipse">
            <a:avLst/>
          </a:prstGeom>
          <a:solidFill>
            <a:srgbClr val="FF6B35"/>
          </a:solidFill>
          <a:ln w="12700">
            <a:solidFill>
              <a:srgbClr val="FF6B35">
                <a:alpha val="0"/>
              </a:srgbClr>
            </a:solidFill>
            <a:prstDash val="solid"/>
          </a:ln>
        </p:spPr>
      </p:sp>
      <p:sp>
        <p:nvSpPr>
          <p:cNvPr id="25" name="Text 23"/>
          <p:cNvSpPr/>
          <p:nvPr/>
        </p:nvSpPr>
        <p:spPr>
          <a:xfrm>
            <a:off x="5093208" y="3520440"/>
            <a:ext cx="987552" cy="201168"/>
          </a:xfrm>
          <a:prstGeom prst="rect">
            <a:avLst/>
          </a:prstGeom>
          <a:noFill/>
          <a:ln/>
        </p:spPr>
        <p:txBody>
          <a:bodyPr wrap="square" lIns="0" tIns="0" rIns="0" bIns="0" rtlCol="0" anchor="ctr"/>
          <a:lstStyle/>
          <a:p>
            <a:pPr indent="0" marL="0">
              <a:buNone/>
            </a:pPr>
            <a:r>
              <a:rPr lang="en-US" sz="1000" b="1" dirty="0">
                <a:solidFill>
                  <a:srgbClr val="FFFFFF"/>
                </a:solidFill>
                <a:latin typeface="Inter" pitchFamily="34" charset="0"/>
                <a:ea typeface="Inter" pitchFamily="34" charset="-122"/>
                <a:cs typeface="Inter" pitchFamily="34" charset="-120"/>
              </a:rPr>
              <a:t>Suspended accounts</a:t>
            </a:r>
            <a:endParaRPr lang="en-US" sz="1000" dirty="0"/>
          </a:p>
        </p:txBody>
      </p:sp>
      <p:sp>
        <p:nvSpPr>
          <p:cNvPr id="26" name="Shape 24"/>
          <p:cNvSpPr/>
          <p:nvPr/>
        </p:nvSpPr>
        <p:spPr>
          <a:xfrm>
            <a:off x="6812280" y="1965960"/>
            <a:ext cx="4160520" cy="2487168"/>
          </a:xfrm>
          <a:prstGeom prst="roundRect">
            <a:avLst/>
          </a:prstGeom>
          <a:solidFill>
            <a:srgbClr val="303030"/>
          </a:solidFill>
          <a:ln w="12700">
            <a:solidFill>
              <a:srgbClr val="303030">
                <a:alpha val="0"/>
              </a:srgbClr>
            </a:solidFill>
            <a:prstDash val="solid"/>
          </a:ln>
        </p:spPr>
      </p:sp>
      <p:sp>
        <p:nvSpPr>
          <p:cNvPr id="27" name="Text 25"/>
          <p:cNvSpPr/>
          <p:nvPr/>
        </p:nvSpPr>
        <p:spPr>
          <a:xfrm>
            <a:off x="7086600" y="2176272"/>
            <a:ext cx="2011680" cy="18288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Illustrative insights</a:t>
            </a:r>
            <a:endParaRPr lang="en-US" sz="1400" dirty="0"/>
          </a:p>
        </p:txBody>
      </p:sp>
      <p:sp>
        <p:nvSpPr>
          <p:cNvPr id="28" name="Shape 26"/>
          <p:cNvSpPr/>
          <p:nvPr/>
        </p:nvSpPr>
        <p:spPr>
          <a:xfrm>
            <a:off x="7178040" y="3410712"/>
            <a:ext cx="228600" cy="502920"/>
          </a:xfrm>
          <a:prstGeom prst="rect">
            <a:avLst/>
          </a:prstGeom>
          <a:solidFill>
            <a:srgbClr val="FF6B35"/>
          </a:solidFill>
          <a:ln w="12700">
            <a:solidFill>
              <a:srgbClr val="FF6B35">
                <a:alpha val="0"/>
              </a:srgbClr>
            </a:solidFill>
            <a:prstDash val="solid"/>
          </a:ln>
        </p:spPr>
      </p:sp>
      <p:sp>
        <p:nvSpPr>
          <p:cNvPr id="29" name="Shape 27"/>
          <p:cNvSpPr/>
          <p:nvPr/>
        </p:nvSpPr>
        <p:spPr>
          <a:xfrm>
            <a:off x="7635240" y="2907792"/>
            <a:ext cx="228600" cy="1005840"/>
          </a:xfrm>
          <a:prstGeom prst="rect">
            <a:avLst/>
          </a:prstGeom>
          <a:solidFill>
            <a:srgbClr val="FF6B35"/>
          </a:solidFill>
          <a:ln w="12700">
            <a:solidFill>
              <a:srgbClr val="FF6B35">
                <a:alpha val="0"/>
              </a:srgbClr>
            </a:solidFill>
            <a:prstDash val="solid"/>
          </a:ln>
        </p:spPr>
      </p:sp>
      <p:sp>
        <p:nvSpPr>
          <p:cNvPr id="30" name="Shape 28"/>
          <p:cNvSpPr/>
          <p:nvPr/>
        </p:nvSpPr>
        <p:spPr>
          <a:xfrm>
            <a:off x="8092440" y="3163824"/>
            <a:ext cx="228600" cy="749808"/>
          </a:xfrm>
          <a:prstGeom prst="rect">
            <a:avLst/>
          </a:prstGeom>
          <a:solidFill>
            <a:srgbClr val="FF6B35"/>
          </a:solidFill>
          <a:ln w="12700">
            <a:solidFill>
              <a:srgbClr val="FF6B35">
                <a:alpha val="0"/>
              </a:srgbClr>
            </a:solidFill>
            <a:prstDash val="solid"/>
          </a:ln>
        </p:spPr>
      </p:sp>
      <p:sp>
        <p:nvSpPr>
          <p:cNvPr id="31" name="Shape 29"/>
          <p:cNvSpPr/>
          <p:nvPr/>
        </p:nvSpPr>
        <p:spPr>
          <a:xfrm>
            <a:off x="8549640" y="2587752"/>
            <a:ext cx="228600" cy="1325880"/>
          </a:xfrm>
          <a:prstGeom prst="rect">
            <a:avLst/>
          </a:prstGeom>
          <a:solidFill>
            <a:srgbClr val="178B52"/>
          </a:solidFill>
          <a:ln w="12700">
            <a:solidFill>
              <a:srgbClr val="178B52">
                <a:alpha val="0"/>
              </a:srgbClr>
            </a:solidFill>
            <a:prstDash val="solid"/>
          </a:ln>
        </p:spPr>
      </p:sp>
      <p:sp>
        <p:nvSpPr>
          <p:cNvPr id="32" name="Shape 30"/>
          <p:cNvSpPr/>
          <p:nvPr/>
        </p:nvSpPr>
        <p:spPr>
          <a:xfrm>
            <a:off x="9006840" y="2999232"/>
            <a:ext cx="228600" cy="914400"/>
          </a:xfrm>
          <a:prstGeom prst="rect">
            <a:avLst/>
          </a:prstGeom>
          <a:solidFill>
            <a:srgbClr val="FF6B35"/>
          </a:solidFill>
          <a:ln w="12700">
            <a:solidFill>
              <a:srgbClr val="FF6B35">
                <a:alpha val="0"/>
              </a:srgbClr>
            </a:solidFill>
            <a:prstDash val="solid"/>
          </a:ln>
        </p:spPr>
      </p:sp>
      <p:sp>
        <p:nvSpPr>
          <p:cNvPr id="33" name="Shape 31"/>
          <p:cNvSpPr/>
          <p:nvPr/>
        </p:nvSpPr>
        <p:spPr>
          <a:xfrm>
            <a:off x="9601200" y="2651760"/>
            <a:ext cx="914400" cy="914400"/>
          </a:xfrm>
          <a:prstGeom prst="donut">
            <a:avLst/>
          </a:prstGeom>
          <a:solidFill>
            <a:srgbClr val="FFB091"/>
          </a:solidFill>
          <a:ln w="12700">
            <a:solidFill>
              <a:srgbClr val="FFB091">
                <a:alpha val="0"/>
              </a:srgbClr>
            </a:solidFill>
            <a:prstDash val="solid"/>
          </a:ln>
        </p:spPr>
      </p:sp>
      <p:sp>
        <p:nvSpPr>
          <p:cNvPr id="34" name="Shape 32"/>
          <p:cNvSpPr/>
          <p:nvPr/>
        </p:nvSpPr>
        <p:spPr>
          <a:xfrm>
            <a:off x="9838944" y="2889504"/>
            <a:ext cx="438912" cy="438912"/>
          </a:xfrm>
          <a:prstGeom prst="ellipse">
            <a:avLst/>
          </a:prstGeom>
          <a:solidFill>
            <a:srgbClr val="303030"/>
          </a:solidFill>
          <a:ln w="12700">
            <a:solidFill>
              <a:srgbClr val="303030">
                <a:alpha val="0"/>
              </a:srgbClr>
            </a:solidFill>
            <a:prstDash val="solid"/>
          </a:ln>
        </p:spPr>
      </p:sp>
      <p:sp>
        <p:nvSpPr>
          <p:cNvPr id="35" name="Text 33"/>
          <p:cNvSpPr/>
          <p:nvPr/>
        </p:nvSpPr>
        <p:spPr>
          <a:xfrm>
            <a:off x="7086600" y="4160520"/>
            <a:ext cx="1920240" cy="164592"/>
          </a:xfrm>
          <a:prstGeom prst="rect">
            <a:avLst/>
          </a:prstGeom>
          <a:noFill/>
          <a:ln/>
        </p:spPr>
        <p:txBody>
          <a:bodyPr wrap="square" lIns="0" tIns="0" rIns="0" bIns="0" rtlCol="0" anchor="ctr"/>
          <a:lstStyle/>
          <a:p>
            <a:pPr indent="0" marL="0">
              <a:buNone/>
            </a:pPr>
            <a:r>
              <a:rPr lang="en-US" sz="1100" dirty="0">
                <a:solidFill>
                  <a:srgbClr val="FFD2C0"/>
                </a:solidFill>
                <a:latin typeface="Inter" pitchFamily="34" charset="0"/>
                <a:ea typeface="Inter" pitchFamily="34" charset="-122"/>
                <a:cs typeface="Inter" pitchFamily="34" charset="-120"/>
              </a:rPr>
              <a:t>Copy summary report</a:t>
            </a:r>
            <a:endParaRPr lang="en-US" sz="1100" dirty="0"/>
          </a:p>
        </p:txBody>
      </p:sp>
      <p:sp>
        <p:nvSpPr>
          <p:cNvPr id="36" name="Shape 34"/>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37" name="Text 35"/>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38" name="Text 36"/>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1F1F"/>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1F1F1F"/>
          </a:solidFill>
          <a:ln w="12700">
            <a:solidFill>
              <a:srgbClr val="1F1F1F">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Admin</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Inter" pitchFamily="34" charset="0"/>
                <a:ea typeface="Inter" pitchFamily="34" charset="-122"/>
                <a:cs typeface="Inter" pitchFamily="34" charset="-120"/>
              </a:rPr>
              <a:t>One review. Three clear outcomes.</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F8D4C8"/>
                </a:solidFill>
                <a:latin typeface="Inter" pitchFamily="34" charset="0"/>
                <a:ea typeface="Inter" pitchFamily="34" charset="-122"/>
                <a:cs typeface="Inter" pitchFamily="34" charset="-120"/>
              </a:rPr>
              <a:t>Approve, reject with a reason, or suspend</a:t>
            </a:r>
            <a:endParaRPr lang="en-US" sz="1200" dirty="0"/>
          </a:p>
        </p:txBody>
      </p:sp>
      <p:sp>
        <p:nvSpPr>
          <p:cNvPr id="6" name="Shape 4"/>
          <p:cNvSpPr/>
          <p:nvPr/>
        </p:nvSpPr>
        <p:spPr>
          <a:xfrm>
            <a:off x="731520" y="2331720"/>
            <a:ext cx="2194560" cy="1234440"/>
          </a:xfrm>
          <a:prstGeom prst="roundRect">
            <a:avLst/>
          </a:prstGeom>
          <a:solidFill>
            <a:srgbClr val="303030"/>
          </a:solidFill>
          <a:ln w="12700">
            <a:solidFill>
              <a:srgbClr val="303030">
                <a:alpha val="0"/>
              </a:srgbClr>
            </a:solidFill>
            <a:prstDash val="solid"/>
          </a:ln>
        </p:spPr>
      </p:sp>
      <p:sp>
        <p:nvSpPr>
          <p:cNvPr id="7" name="Text 5"/>
          <p:cNvSpPr/>
          <p:nvPr/>
        </p:nvSpPr>
        <p:spPr>
          <a:xfrm>
            <a:off x="1051560" y="2578608"/>
            <a:ext cx="155448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Review vendor details</a:t>
            </a:r>
            <a:endParaRPr lang="en-US" sz="1800" dirty="0"/>
          </a:p>
          <a:p>
            <a:pPr algn="ctr" indent="0" marL="0">
              <a:buNone/>
            </a:pPr>
            <a:r>
              <a:rPr lang="en-US" sz="1800" b="1" dirty="0">
                <a:solidFill>
                  <a:srgbClr val="FFFFFF"/>
                </a:solidFill>
                <a:latin typeface="Inter" pitchFamily="34" charset="0"/>
                <a:ea typeface="Inter" pitchFamily="34" charset="-122"/>
                <a:cs typeface="Inter" pitchFamily="34" charset="-120"/>
              </a:rPr>
              <a:t>and photos</a:t>
            </a:r>
            <a:endParaRPr lang="en-US" sz="1800" dirty="0"/>
          </a:p>
        </p:txBody>
      </p:sp>
      <p:sp>
        <p:nvSpPr>
          <p:cNvPr id="8" name="Shape 6"/>
          <p:cNvSpPr/>
          <p:nvPr/>
        </p:nvSpPr>
        <p:spPr>
          <a:xfrm>
            <a:off x="3246120" y="2724912"/>
            <a:ext cx="1097280" cy="320040"/>
          </a:xfrm>
          <a:prstGeom prst="rightArrow">
            <a:avLst/>
          </a:prstGeom>
          <a:solidFill>
            <a:srgbClr val="FF6B35"/>
          </a:solidFill>
          <a:ln w="12700">
            <a:solidFill>
              <a:srgbClr val="FF6B35">
                <a:alpha val="0"/>
              </a:srgbClr>
            </a:solidFill>
            <a:prstDash val="solid"/>
          </a:ln>
        </p:spPr>
      </p:sp>
      <p:sp>
        <p:nvSpPr>
          <p:cNvPr id="9" name="Shape 7"/>
          <p:cNvSpPr/>
          <p:nvPr/>
        </p:nvSpPr>
        <p:spPr>
          <a:xfrm>
            <a:off x="4709160" y="2240280"/>
            <a:ext cx="1600200" cy="1417320"/>
          </a:xfrm>
          <a:prstGeom prst="roundRect">
            <a:avLst/>
          </a:prstGeom>
          <a:solidFill>
            <a:srgbClr val="178B52"/>
          </a:solidFill>
          <a:ln w="12700">
            <a:solidFill>
              <a:srgbClr val="178B52">
                <a:alpha val="0"/>
              </a:srgbClr>
            </a:solidFill>
            <a:prstDash val="solid"/>
          </a:ln>
        </p:spPr>
      </p:sp>
      <p:sp>
        <p:nvSpPr>
          <p:cNvPr id="10" name="Text 8"/>
          <p:cNvSpPr/>
          <p:nvPr/>
        </p:nvSpPr>
        <p:spPr>
          <a:xfrm>
            <a:off x="4709160" y="2670048"/>
            <a:ext cx="1600200" cy="20116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Approve</a:t>
            </a:r>
            <a:endParaRPr lang="en-US" sz="1800" dirty="0"/>
          </a:p>
        </p:txBody>
      </p:sp>
      <p:sp>
        <p:nvSpPr>
          <p:cNvPr id="11" name="Shape 9"/>
          <p:cNvSpPr/>
          <p:nvPr/>
        </p:nvSpPr>
        <p:spPr>
          <a:xfrm>
            <a:off x="6766560" y="2240280"/>
            <a:ext cx="1600200" cy="1417320"/>
          </a:xfrm>
          <a:prstGeom prst="roundRect">
            <a:avLst/>
          </a:prstGeom>
          <a:solidFill>
            <a:srgbClr val="CC4009"/>
          </a:solidFill>
          <a:ln w="12700">
            <a:solidFill>
              <a:srgbClr val="CC4009">
                <a:alpha val="0"/>
              </a:srgbClr>
            </a:solidFill>
            <a:prstDash val="solid"/>
          </a:ln>
        </p:spPr>
      </p:sp>
      <p:sp>
        <p:nvSpPr>
          <p:cNvPr id="12" name="Text 10"/>
          <p:cNvSpPr/>
          <p:nvPr/>
        </p:nvSpPr>
        <p:spPr>
          <a:xfrm>
            <a:off x="6766560" y="2670048"/>
            <a:ext cx="1600200" cy="20116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Reject</a:t>
            </a:r>
            <a:endParaRPr lang="en-US" sz="1800" dirty="0"/>
          </a:p>
        </p:txBody>
      </p:sp>
      <p:sp>
        <p:nvSpPr>
          <p:cNvPr id="13" name="Shape 11"/>
          <p:cNvSpPr/>
          <p:nvPr/>
        </p:nvSpPr>
        <p:spPr>
          <a:xfrm>
            <a:off x="8823960" y="2240280"/>
            <a:ext cx="1600200" cy="1417320"/>
          </a:xfrm>
          <a:prstGeom prst="roundRect">
            <a:avLst/>
          </a:prstGeom>
          <a:solidFill>
            <a:srgbClr val="FF6B35"/>
          </a:solidFill>
          <a:ln w="12700">
            <a:solidFill>
              <a:srgbClr val="FF6B35">
                <a:alpha val="0"/>
              </a:srgbClr>
            </a:solidFill>
            <a:prstDash val="solid"/>
          </a:ln>
        </p:spPr>
      </p:sp>
      <p:sp>
        <p:nvSpPr>
          <p:cNvPr id="14" name="Text 12"/>
          <p:cNvSpPr/>
          <p:nvPr/>
        </p:nvSpPr>
        <p:spPr>
          <a:xfrm>
            <a:off x="8823960" y="2670048"/>
            <a:ext cx="1600200" cy="20116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Suspend</a:t>
            </a:r>
            <a:endParaRPr lang="en-US" sz="1800" dirty="0"/>
          </a:p>
        </p:txBody>
      </p:sp>
      <p:sp>
        <p:nvSpPr>
          <p:cNvPr id="15" name="Text 13"/>
          <p:cNvSpPr/>
          <p:nvPr/>
        </p:nvSpPr>
        <p:spPr>
          <a:xfrm>
            <a:off x="731520" y="4663440"/>
            <a:ext cx="7315200" cy="201168"/>
          </a:xfrm>
          <a:prstGeom prst="rect">
            <a:avLst/>
          </a:prstGeom>
          <a:noFill/>
          <a:ln/>
        </p:spPr>
        <p:txBody>
          <a:bodyPr wrap="square" lIns="0" tIns="0" rIns="0" bIns="0" rtlCol="0" anchor="ctr"/>
          <a:lstStyle/>
          <a:p>
            <a:pPr indent="0" marL="0">
              <a:buNone/>
            </a:pPr>
            <a:r>
              <a:rPr lang="en-US" sz="1400" dirty="0">
                <a:solidFill>
                  <a:srgbClr val="FFD2C0"/>
                </a:solidFill>
                <a:latin typeface="Inter" pitchFamily="34" charset="0"/>
                <a:ea typeface="Inter" pitchFamily="34" charset="-122"/>
                <a:cs typeface="Inter" pitchFamily="34" charset="-120"/>
              </a:rPr>
              <a:t>Users list: search · role filters · profile actions</a:t>
            </a:r>
            <a:endParaRPr lang="en-US" sz="1400" dirty="0"/>
          </a:p>
        </p:txBody>
      </p:sp>
      <p:sp>
        <p:nvSpPr>
          <p:cNvPr id="16" name="Shape 14"/>
          <p:cNvSpPr/>
          <p:nvPr/>
        </p:nvSpPr>
        <p:spPr>
          <a:xfrm>
            <a:off x="8412480" y="4572000"/>
            <a:ext cx="2103120" cy="292608"/>
          </a:xfrm>
          <a:prstGeom prst="roundRect">
            <a:avLst/>
          </a:prstGeom>
          <a:solidFill>
            <a:srgbClr val="303030"/>
          </a:solidFill>
          <a:ln w="12700">
            <a:solidFill>
              <a:srgbClr val="303030">
                <a:alpha val="0"/>
              </a:srgbClr>
            </a:solidFill>
            <a:prstDash val="solid"/>
          </a:ln>
        </p:spPr>
      </p:sp>
      <p:sp>
        <p:nvSpPr>
          <p:cNvPr id="17" name="Text 15"/>
          <p:cNvSpPr/>
          <p:nvPr/>
        </p:nvSpPr>
        <p:spPr>
          <a:xfrm>
            <a:off x="8412480" y="4622292"/>
            <a:ext cx="210312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Reactivate when appropriate</a:t>
            </a:r>
            <a:endParaRPr lang="en-US" sz="900" dirty="0"/>
          </a:p>
        </p:txBody>
      </p:sp>
      <p:sp>
        <p:nvSpPr>
          <p:cNvPr id="18" name="Shape 16"/>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19" name="Text 17"/>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20" name="Text 18"/>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1F1F"/>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1F1F1F"/>
          </a:solidFill>
          <a:ln w="12700">
            <a:solidFill>
              <a:srgbClr val="1F1F1F">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Admin</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Inter" pitchFamily="34" charset="0"/>
                <a:ea typeface="Inter" pitchFamily="34" charset="-122"/>
                <a:cs typeface="Inter" pitchFamily="34" charset="-120"/>
              </a:rPr>
              <a:t>Stalls left. Categories right.</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F8D4C8"/>
                </a:solidFill>
                <a:latin typeface="Inter" pitchFamily="34" charset="0"/>
                <a:ea typeface="Inter" pitchFamily="34" charset="-122"/>
                <a:cs typeface="Inter" pitchFamily="34" charset="-120"/>
              </a:rPr>
              <a:t>Two focused places to keep discovery trustworthy</a:t>
            </a:r>
            <a:endParaRPr lang="en-US" sz="1200" dirty="0"/>
          </a:p>
        </p:txBody>
      </p:sp>
      <p:sp>
        <p:nvSpPr>
          <p:cNvPr id="6" name="Shape 4"/>
          <p:cNvSpPr/>
          <p:nvPr/>
        </p:nvSpPr>
        <p:spPr>
          <a:xfrm>
            <a:off x="685800" y="1828800"/>
            <a:ext cx="4800600" cy="2926080"/>
          </a:xfrm>
          <a:prstGeom prst="roundRect">
            <a:avLst/>
          </a:prstGeom>
          <a:solidFill>
            <a:srgbClr val="303030"/>
          </a:solidFill>
          <a:ln w="12700">
            <a:solidFill>
              <a:srgbClr val="303030">
                <a:alpha val="0"/>
              </a:srgbClr>
            </a:solidFill>
            <a:prstDash val="solid"/>
          </a:ln>
        </p:spPr>
      </p:sp>
      <p:sp>
        <p:nvSpPr>
          <p:cNvPr id="7" name="Shape 5"/>
          <p:cNvSpPr/>
          <p:nvPr/>
        </p:nvSpPr>
        <p:spPr>
          <a:xfrm>
            <a:off x="960120" y="2148840"/>
            <a:ext cx="1417320" cy="292608"/>
          </a:xfrm>
          <a:prstGeom prst="roundRect">
            <a:avLst/>
          </a:prstGeom>
          <a:solidFill>
            <a:srgbClr val="FF6B35"/>
          </a:solidFill>
          <a:ln w="12700">
            <a:solidFill>
              <a:srgbClr val="FF6B35">
                <a:alpha val="0"/>
              </a:srgbClr>
            </a:solidFill>
            <a:prstDash val="solid"/>
          </a:ln>
        </p:spPr>
      </p:sp>
      <p:sp>
        <p:nvSpPr>
          <p:cNvPr id="8" name="Text 6"/>
          <p:cNvSpPr/>
          <p:nvPr/>
        </p:nvSpPr>
        <p:spPr>
          <a:xfrm>
            <a:off x="960120" y="2199132"/>
            <a:ext cx="141732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STALLS</a:t>
            </a:r>
            <a:endParaRPr lang="en-US" sz="900" dirty="0"/>
          </a:p>
        </p:txBody>
      </p:sp>
      <p:sp>
        <p:nvSpPr>
          <p:cNvPr id="9" name="Text 7"/>
          <p:cNvSpPr/>
          <p:nvPr/>
        </p:nvSpPr>
        <p:spPr>
          <a:xfrm>
            <a:off x="960120" y="2788920"/>
            <a:ext cx="4114800" cy="228600"/>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Search, status, Open now</a:t>
            </a:r>
            <a:endParaRPr lang="en-US" sz="1900" dirty="0"/>
          </a:p>
        </p:txBody>
      </p:sp>
      <p:sp>
        <p:nvSpPr>
          <p:cNvPr id="10" name="Shape 8"/>
          <p:cNvSpPr/>
          <p:nvPr/>
        </p:nvSpPr>
        <p:spPr>
          <a:xfrm>
            <a:off x="960120" y="3429000"/>
            <a:ext cx="4114800" cy="18288"/>
          </a:xfrm>
          <a:prstGeom prst="rect">
            <a:avLst/>
          </a:prstGeom>
          <a:solidFill>
            <a:srgbClr val="555555"/>
          </a:solidFill>
          <a:ln w="12700">
            <a:solidFill>
              <a:srgbClr val="555555">
                <a:alpha val="0"/>
              </a:srgbClr>
            </a:solidFill>
            <a:prstDash val="solid"/>
          </a:ln>
        </p:spPr>
      </p:sp>
      <p:sp>
        <p:nvSpPr>
          <p:cNvPr id="11" name="Text 9"/>
          <p:cNvSpPr/>
          <p:nvPr/>
        </p:nvSpPr>
        <p:spPr>
          <a:xfrm>
            <a:off x="960120" y="3794760"/>
            <a:ext cx="4114800" cy="201168"/>
          </a:xfrm>
          <a:prstGeom prst="rect">
            <a:avLst/>
          </a:prstGeom>
          <a:noFill/>
          <a:ln/>
        </p:spPr>
        <p:txBody>
          <a:bodyPr wrap="square" lIns="0" tIns="0" rIns="0" bIns="0" rtlCol="0" anchor="ctr"/>
          <a:lstStyle/>
          <a:p>
            <a:pPr indent="0" marL="0">
              <a:buNone/>
            </a:pPr>
            <a:r>
              <a:rPr lang="en-US" sz="1300" dirty="0">
                <a:solidFill>
                  <a:srgbClr val="FFD2C0"/>
                </a:solidFill>
                <a:latin typeface="Inter" pitchFamily="34" charset="0"/>
                <a:ea typeface="Inter" pitchFamily="34" charset="-122"/>
                <a:cs typeface="Inter" pitchFamily="34" charset="-120"/>
              </a:rPr>
              <a:t>Review · edit · delete</a:t>
            </a:r>
            <a:endParaRPr lang="en-US" sz="1300" dirty="0"/>
          </a:p>
        </p:txBody>
      </p:sp>
      <p:sp>
        <p:nvSpPr>
          <p:cNvPr id="12" name="Shape 10"/>
          <p:cNvSpPr/>
          <p:nvPr/>
        </p:nvSpPr>
        <p:spPr>
          <a:xfrm>
            <a:off x="6217920" y="1828800"/>
            <a:ext cx="4800600" cy="2926080"/>
          </a:xfrm>
          <a:prstGeom prst="roundRect">
            <a:avLst/>
          </a:prstGeom>
          <a:solidFill>
            <a:srgbClr val="303030"/>
          </a:solidFill>
          <a:ln w="12700">
            <a:solidFill>
              <a:srgbClr val="303030">
                <a:alpha val="0"/>
              </a:srgbClr>
            </a:solidFill>
            <a:prstDash val="solid"/>
          </a:ln>
        </p:spPr>
      </p:sp>
      <p:sp>
        <p:nvSpPr>
          <p:cNvPr id="13" name="Shape 11"/>
          <p:cNvSpPr/>
          <p:nvPr/>
        </p:nvSpPr>
        <p:spPr>
          <a:xfrm>
            <a:off x="6492240" y="2148840"/>
            <a:ext cx="1417320" cy="292608"/>
          </a:xfrm>
          <a:prstGeom prst="roundRect">
            <a:avLst/>
          </a:prstGeom>
          <a:solidFill>
            <a:srgbClr val="CC4009"/>
          </a:solidFill>
          <a:ln w="12700">
            <a:solidFill>
              <a:srgbClr val="CC4009">
                <a:alpha val="0"/>
              </a:srgbClr>
            </a:solidFill>
            <a:prstDash val="solid"/>
          </a:ln>
        </p:spPr>
      </p:sp>
      <p:sp>
        <p:nvSpPr>
          <p:cNvPr id="14" name="Text 12"/>
          <p:cNvSpPr/>
          <p:nvPr/>
        </p:nvSpPr>
        <p:spPr>
          <a:xfrm>
            <a:off x="6492240" y="2199132"/>
            <a:ext cx="141732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FOOD CATEGORIES</a:t>
            </a:r>
            <a:endParaRPr lang="en-US" sz="900" dirty="0"/>
          </a:p>
        </p:txBody>
      </p:sp>
      <p:sp>
        <p:nvSpPr>
          <p:cNvPr id="15" name="Text 13"/>
          <p:cNvSpPr/>
          <p:nvPr/>
        </p:nvSpPr>
        <p:spPr>
          <a:xfrm>
            <a:off x="6492240" y="2788920"/>
            <a:ext cx="4114800" cy="228600"/>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Add · rename · delete</a:t>
            </a:r>
            <a:endParaRPr lang="en-US" sz="1900" dirty="0"/>
          </a:p>
        </p:txBody>
      </p:sp>
      <p:sp>
        <p:nvSpPr>
          <p:cNvPr id="16" name="Shape 14"/>
          <p:cNvSpPr/>
          <p:nvPr/>
        </p:nvSpPr>
        <p:spPr>
          <a:xfrm>
            <a:off x="6492240" y="3429000"/>
            <a:ext cx="4114800" cy="18288"/>
          </a:xfrm>
          <a:prstGeom prst="rect">
            <a:avLst/>
          </a:prstGeom>
          <a:solidFill>
            <a:srgbClr val="555555"/>
          </a:solidFill>
          <a:ln w="12700">
            <a:solidFill>
              <a:srgbClr val="555555">
                <a:alpha val="0"/>
              </a:srgbClr>
            </a:solidFill>
            <a:prstDash val="solid"/>
          </a:ln>
        </p:spPr>
      </p:sp>
      <p:sp>
        <p:nvSpPr>
          <p:cNvPr id="17" name="Text 15"/>
          <p:cNvSpPr/>
          <p:nvPr/>
        </p:nvSpPr>
        <p:spPr>
          <a:xfrm>
            <a:off x="6492240" y="3794760"/>
            <a:ext cx="4114800" cy="201168"/>
          </a:xfrm>
          <a:prstGeom prst="rect">
            <a:avLst/>
          </a:prstGeom>
          <a:noFill/>
          <a:ln/>
        </p:spPr>
        <p:txBody>
          <a:bodyPr wrap="square" lIns="0" tIns="0" rIns="0" bIns="0" rtlCol="0" anchor="ctr"/>
          <a:lstStyle/>
          <a:p>
            <a:pPr indent="0" marL="0">
              <a:buNone/>
            </a:pPr>
            <a:r>
              <a:rPr lang="en-US" sz="1300" dirty="0">
                <a:solidFill>
                  <a:srgbClr val="FFD2C0"/>
                </a:solidFill>
                <a:latin typeface="Inter" pitchFamily="34" charset="0"/>
                <a:ea typeface="Inter" pitchFamily="34" charset="-122"/>
                <a:cs typeface="Inter" pitchFamily="34" charset="-120"/>
              </a:rPr>
              <a:t>Linked stalls protect deletion</a:t>
            </a:r>
            <a:endParaRPr lang="en-US" sz="1300" dirty="0"/>
          </a:p>
        </p:txBody>
      </p:sp>
      <p:sp>
        <p:nvSpPr>
          <p:cNvPr id="18" name="Shape 16"/>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19" name="Text 17"/>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20" name="Text 18"/>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A"/>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178B52"/>
          </a:solidFill>
          <a:ln w="12700">
            <a:solidFill>
              <a:srgbClr val="178B52">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Customer</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1F1F1F"/>
                </a:solidFill>
                <a:latin typeface="Inter" pitchFamily="34" charset="0"/>
                <a:ea typeface="Inter" pitchFamily="34" charset="-122"/>
                <a:cs typeface="Inter" pitchFamily="34" charset="-120"/>
              </a:rPr>
              <a:t>One kilometre. So much food.</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Near you, nearest first, open now</a:t>
            </a:r>
            <a:endParaRPr lang="en-US" sz="1200" dirty="0"/>
          </a:p>
        </p:txBody>
      </p:sp>
      <p:sp>
        <p:nvSpPr>
          <p:cNvPr id="6" name="Shape 4"/>
          <p:cNvSpPr/>
          <p:nvPr/>
        </p:nvSpPr>
        <p:spPr>
          <a:xfrm>
            <a:off x="6035040" y="1691640"/>
            <a:ext cx="4114800" cy="4114800"/>
          </a:xfrm>
          <a:prstGeom prst="ellipse">
            <a:avLst/>
          </a:prstGeom>
          <a:solidFill>
            <a:srgbClr val="E8F6EE"/>
          </a:solidFill>
          <a:ln w="12700">
            <a:solidFill>
              <a:srgbClr val="E8F6EE">
                <a:alpha val="0"/>
              </a:srgbClr>
            </a:solidFill>
            <a:prstDash val="solid"/>
          </a:ln>
        </p:spPr>
      </p:sp>
      <p:sp>
        <p:nvSpPr>
          <p:cNvPr id="7" name="Shape 5"/>
          <p:cNvSpPr/>
          <p:nvPr/>
        </p:nvSpPr>
        <p:spPr>
          <a:xfrm>
            <a:off x="6766560" y="2423160"/>
            <a:ext cx="2651760" cy="2651760"/>
          </a:xfrm>
          <a:prstGeom prst="ellipse">
            <a:avLst/>
          </a:prstGeom>
          <a:solidFill>
            <a:srgbClr val="D4EEDD"/>
          </a:solidFill>
          <a:ln w="12700">
            <a:solidFill>
              <a:srgbClr val="D4EEDD">
                <a:alpha val="0"/>
              </a:srgbClr>
            </a:solidFill>
            <a:prstDash val="solid"/>
          </a:ln>
        </p:spPr>
      </p:sp>
      <p:sp>
        <p:nvSpPr>
          <p:cNvPr id="8" name="Shape 6"/>
          <p:cNvSpPr/>
          <p:nvPr/>
        </p:nvSpPr>
        <p:spPr>
          <a:xfrm>
            <a:off x="7498080" y="3154680"/>
            <a:ext cx="1188720" cy="1188720"/>
          </a:xfrm>
          <a:prstGeom prst="ellipse">
            <a:avLst/>
          </a:prstGeom>
          <a:solidFill>
            <a:srgbClr val="FFFFFF"/>
          </a:solidFill>
          <a:ln w="12700">
            <a:solidFill>
              <a:srgbClr val="FFFFFF">
                <a:alpha val="0"/>
              </a:srgbClr>
            </a:solidFill>
            <a:prstDash val="solid"/>
          </a:ln>
        </p:spPr>
      </p:sp>
      <p:sp>
        <p:nvSpPr>
          <p:cNvPr id="9" name="Text 7"/>
          <p:cNvSpPr/>
          <p:nvPr/>
        </p:nvSpPr>
        <p:spPr>
          <a:xfrm>
            <a:off x="7607808" y="3593592"/>
            <a:ext cx="960120" cy="182880"/>
          </a:xfrm>
          <a:prstGeom prst="rect">
            <a:avLst/>
          </a:prstGeom>
          <a:noFill/>
          <a:ln/>
        </p:spPr>
        <p:txBody>
          <a:bodyPr wrap="square" lIns="0" tIns="0" rIns="0" bIns="0" rtlCol="0" anchor="ctr"/>
          <a:lstStyle/>
          <a:p>
            <a:pPr algn="ctr" indent="0" marL="0">
              <a:buNone/>
            </a:pPr>
            <a:r>
              <a:rPr lang="en-US" sz="1800" b="1" dirty="0">
                <a:solidFill>
                  <a:srgbClr val="178B52"/>
                </a:solidFill>
                <a:latin typeface="Inter" pitchFamily="34" charset="0"/>
                <a:ea typeface="Inter" pitchFamily="34" charset="-122"/>
                <a:cs typeface="Inter" pitchFamily="34" charset="-120"/>
              </a:rPr>
              <a:t>1 km</a:t>
            </a:r>
            <a:endParaRPr lang="en-US" sz="1800" dirty="0"/>
          </a:p>
        </p:txBody>
      </p:sp>
      <p:sp>
        <p:nvSpPr>
          <p:cNvPr id="10" name="Shape 8"/>
          <p:cNvSpPr/>
          <p:nvPr/>
        </p:nvSpPr>
        <p:spPr>
          <a:xfrm>
            <a:off x="6492240" y="2468880"/>
            <a:ext cx="310896" cy="402336"/>
          </a:xfrm>
          <a:prstGeom prst="teardrop">
            <a:avLst/>
          </a:prstGeom>
          <a:solidFill>
            <a:srgbClr val="FF6B35"/>
          </a:solidFill>
          <a:ln w="12700">
            <a:solidFill>
              <a:srgbClr val="FF6B35">
                <a:alpha val="0"/>
              </a:srgbClr>
            </a:solidFill>
            <a:prstDash val="solid"/>
          </a:ln>
        </p:spPr>
      </p:sp>
      <p:sp>
        <p:nvSpPr>
          <p:cNvPr id="11" name="Shape 9"/>
          <p:cNvSpPr/>
          <p:nvPr/>
        </p:nvSpPr>
        <p:spPr>
          <a:xfrm>
            <a:off x="6583680" y="2560320"/>
            <a:ext cx="128016" cy="128016"/>
          </a:xfrm>
          <a:prstGeom prst="ellipse">
            <a:avLst/>
          </a:prstGeom>
          <a:solidFill>
            <a:srgbClr val="FFFFFF"/>
          </a:solidFill>
          <a:ln w="12700">
            <a:solidFill>
              <a:srgbClr val="FFFFFF">
                <a:alpha val="0"/>
              </a:srgbClr>
            </a:solidFill>
            <a:prstDash val="solid"/>
          </a:ln>
        </p:spPr>
      </p:sp>
      <p:sp>
        <p:nvSpPr>
          <p:cNvPr id="12" name="Shape 10"/>
          <p:cNvSpPr/>
          <p:nvPr/>
        </p:nvSpPr>
        <p:spPr>
          <a:xfrm>
            <a:off x="8961120" y="2240280"/>
            <a:ext cx="310896" cy="402336"/>
          </a:xfrm>
          <a:prstGeom prst="teardrop">
            <a:avLst/>
          </a:prstGeom>
          <a:solidFill>
            <a:srgbClr val="FF6B35"/>
          </a:solidFill>
          <a:ln w="12700">
            <a:solidFill>
              <a:srgbClr val="FF6B35">
                <a:alpha val="0"/>
              </a:srgbClr>
            </a:solidFill>
            <a:prstDash val="solid"/>
          </a:ln>
        </p:spPr>
      </p:sp>
      <p:sp>
        <p:nvSpPr>
          <p:cNvPr id="13" name="Shape 11"/>
          <p:cNvSpPr/>
          <p:nvPr/>
        </p:nvSpPr>
        <p:spPr>
          <a:xfrm>
            <a:off x="9052560" y="2331720"/>
            <a:ext cx="128016" cy="128016"/>
          </a:xfrm>
          <a:prstGeom prst="ellipse">
            <a:avLst/>
          </a:prstGeom>
          <a:solidFill>
            <a:srgbClr val="FFFFFF"/>
          </a:solidFill>
          <a:ln w="12700">
            <a:solidFill>
              <a:srgbClr val="FFFFFF">
                <a:alpha val="0"/>
              </a:srgbClr>
            </a:solidFill>
            <a:prstDash val="solid"/>
          </a:ln>
        </p:spPr>
      </p:sp>
      <p:sp>
        <p:nvSpPr>
          <p:cNvPr id="14" name="Shape 12"/>
          <p:cNvSpPr/>
          <p:nvPr/>
        </p:nvSpPr>
        <p:spPr>
          <a:xfrm>
            <a:off x="9372600" y="4251960"/>
            <a:ext cx="310896" cy="402336"/>
          </a:xfrm>
          <a:prstGeom prst="teardrop">
            <a:avLst/>
          </a:prstGeom>
          <a:solidFill>
            <a:srgbClr val="747474"/>
          </a:solidFill>
          <a:ln w="12700">
            <a:solidFill>
              <a:srgbClr val="747474">
                <a:alpha val="0"/>
              </a:srgbClr>
            </a:solidFill>
            <a:prstDash val="solid"/>
          </a:ln>
        </p:spPr>
      </p:sp>
      <p:sp>
        <p:nvSpPr>
          <p:cNvPr id="15" name="Shape 13"/>
          <p:cNvSpPr/>
          <p:nvPr/>
        </p:nvSpPr>
        <p:spPr>
          <a:xfrm>
            <a:off x="9464040" y="4343400"/>
            <a:ext cx="128016" cy="128016"/>
          </a:xfrm>
          <a:prstGeom prst="ellipse">
            <a:avLst/>
          </a:prstGeom>
          <a:solidFill>
            <a:srgbClr val="FFFFFF"/>
          </a:solidFill>
          <a:ln w="12700">
            <a:solidFill>
              <a:srgbClr val="FFFFFF">
                <a:alpha val="0"/>
              </a:srgbClr>
            </a:solidFill>
            <a:prstDash val="solid"/>
          </a:ln>
        </p:spPr>
      </p:sp>
      <p:sp>
        <p:nvSpPr>
          <p:cNvPr id="16" name="Shape 14"/>
          <p:cNvSpPr/>
          <p:nvPr/>
        </p:nvSpPr>
        <p:spPr>
          <a:xfrm>
            <a:off x="6263640" y="4389120"/>
            <a:ext cx="310896" cy="402336"/>
          </a:xfrm>
          <a:prstGeom prst="teardrop">
            <a:avLst/>
          </a:prstGeom>
          <a:solidFill>
            <a:srgbClr val="FF6B35"/>
          </a:solidFill>
          <a:ln w="12700">
            <a:solidFill>
              <a:srgbClr val="FF6B35">
                <a:alpha val="0"/>
              </a:srgbClr>
            </a:solidFill>
            <a:prstDash val="solid"/>
          </a:ln>
        </p:spPr>
      </p:sp>
      <p:sp>
        <p:nvSpPr>
          <p:cNvPr id="17" name="Shape 15"/>
          <p:cNvSpPr/>
          <p:nvPr/>
        </p:nvSpPr>
        <p:spPr>
          <a:xfrm>
            <a:off x="6355080" y="4480560"/>
            <a:ext cx="128016" cy="128016"/>
          </a:xfrm>
          <a:prstGeom prst="ellipse">
            <a:avLst/>
          </a:prstGeom>
          <a:solidFill>
            <a:srgbClr val="FFFFFF"/>
          </a:solidFill>
          <a:ln w="12700">
            <a:solidFill>
              <a:srgbClr val="FFFFFF">
                <a:alpha val="0"/>
              </a:srgbClr>
            </a:solidFill>
            <a:prstDash val="solid"/>
          </a:ln>
        </p:spPr>
      </p:sp>
      <p:sp>
        <p:nvSpPr>
          <p:cNvPr id="18" name="Shape 16"/>
          <p:cNvSpPr/>
          <p:nvPr/>
        </p:nvSpPr>
        <p:spPr>
          <a:xfrm>
            <a:off x="640080" y="1965960"/>
            <a:ext cx="1097280" cy="292608"/>
          </a:xfrm>
          <a:prstGeom prst="roundRect">
            <a:avLst/>
          </a:prstGeom>
          <a:solidFill>
            <a:srgbClr val="178B52"/>
          </a:solidFill>
          <a:ln w="12700">
            <a:solidFill>
              <a:srgbClr val="178B52">
                <a:alpha val="0"/>
              </a:srgbClr>
            </a:solidFill>
            <a:prstDash val="solid"/>
          </a:ln>
        </p:spPr>
      </p:sp>
      <p:sp>
        <p:nvSpPr>
          <p:cNvPr id="19" name="Text 17"/>
          <p:cNvSpPr/>
          <p:nvPr/>
        </p:nvSpPr>
        <p:spPr>
          <a:xfrm>
            <a:off x="640080" y="2016252"/>
            <a:ext cx="109728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Near you</a:t>
            </a:r>
            <a:endParaRPr lang="en-US" sz="900" dirty="0"/>
          </a:p>
        </p:txBody>
      </p:sp>
      <p:sp>
        <p:nvSpPr>
          <p:cNvPr id="20" name="Shape 18"/>
          <p:cNvSpPr/>
          <p:nvPr/>
        </p:nvSpPr>
        <p:spPr>
          <a:xfrm>
            <a:off x="685800" y="2651760"/>
            <a:ext cx="91440" cy="91440"/>
          </a:xfrm>
          <a:prstGeom prst="ellipse">
            <a:avLst/>
          </a:prstGeom>
          <a:solidFill>
            <a:srgbClr val="178B52"/>
          </a:solidFill>
          <a:ln w="12700">
            <a:solidFill>
              <a:srgbClr val="178B52">
                <a:alpha val="0"/>
              </a:srgbClr>
            </a:solidFill>
            <a:prstDash val="solid"/>
          </a:ln>
        </p:spPr>
      </p:sp>
      <p:sp>
        <p:nvSpPr>
          <p:cNvPr id="21" name="Text 19"/>
          <p:cNvSpPr/>
          <p:nvPr/>
        </p:nvSpPr>
        <p:spPr>
          <a:xfrm>
            <a:off x="896112" y="2578608"/>
            <a:ext cx="3108960" cy="18288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Live location</a:t>
            </a:r>
            <a:endParaRPr lang="en-US" sz="1500" dirty="0"/>
          </a:p>
        </p:txBody>
      </p:sp>
      <p:sp>
        <p:nvSpPr>
          <p:cNvPr id="22" name="Shape 20"/>
          <p:cNvSpPr/>
          <p:nvPr/>
        </p:nvSpPr>
        <p:spPr>
          <a:xfrm>
            <a:off x="685800" y="3136392"/>
            <a:ext cx="91440" cy="91440"/>
          </a:xfrm>
          <a:prstGeom prst="ellipse">
            <a:avLst/>
          </a:prstGeom>
          <a:solidFill>
            <a:srgbClr val="178B52"/>
          </a:solidFill>
          <a:ln w="12700">
            <a:solidFill>
              <a:srgbClr val="178B52">
                <a:alpha val="0"/>
              </a:srgbClr>
            </a:solidFill>
            <a:prstDash val="solid"/>
          </a:ln>
        </p:spPr>
      </p:sp>
      <p:sp>
        <p:nvSpPr>
          <p:cNvPr id="23" name="Text 21"/>
          <p:cNvSpPr/>
          <p:nvPr/>
        </p:nvSpPr>
        <p:spPr>
          <a:xfrm>
            <a:off x="896112" y="3063240"/>
            <a:ext cx="3108960" cy="18288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Nearest first</a:t>
            </a:r>
            <a:endParaRPr lang="en-US" sz="1500" dirty="0"/>
          </a:p>
        </p:txBody>
      </p:sp>
      <p:sp>
        <p:nvSpPr>
          <p:cNvPr id="24" name="Shape 22"/>
          <p:cNvSpPr/>
          <p:nvPr/>
        </p:nvSpPr>
        <p:spPr>
          <a:xfrm>
            <a:off x="685800" y="3621024"/>
            <a:ext cx="91440" cy="91440"/>
          </a:xfrm>
          <a:prstGeom prst="ellipse">
            <a:avLst/>
          </a:prstGeom>
          <a:solidFill>
            <a:srgbClr val="178B52"/>
          </a:solidFill>
          <a:ln w="12700">
            <a:solidFill>
              <a:srgbClr val="178B52">
                <a:alpha val="0"/>
              </a:srgbClr>
            </a:solidFill>
            <a:prstDash val="solid"/>
          </a:ln>
        </p:spPr>
      </p:sp>
      <p:sp>
        <p:nvSpPr>
          <p:cNvPr id="25" name="Text 23"/>
          <p:cNvSpPr/>
          <p:nvPr/>
        </p:nvSpPr>
        <p:spPr>
          <a:xfrm>
            <a:off x="896112" y="3547872"/>
            <a:ext cx="3108960" cy="18288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Open now filter</a:t>
            </a:r>
            <a:endParaRPr lang="en-US" sz="1500" dirty="0"/>
          </a:p>
        </p:txBody>
      </p:sp>
      <p:sp>
        <p:nvSpPr>
          <p:cNvPr id="26" name="Shape 24"/>
          <p:cNvSpPr/>
          <p:nvPr/>
        </p:nvSpPr>
        <p:spPr>
          <a:xfrm>
            <a:off x="685800" y="4105656"/>
            <a:ext cx="91440" cy="91440"/>
          </a:xfrm>
          <a:prstGeom prst="ellipse">
            <a:avLst/>
          </a:prstGeom>
          <a:solidFill>
            <a:srgbClr val="178B52"/>
          </a:solidFill>
          <a:ln w="12700">
            <a:solidFill>
              <a:srgbClr val="178B52">
                <a:alpha val="0"/>
              </a:srgbClr>
            </a:solidFill>
            <a:prstDash val="solid"/>
          </a:ln>
        </p:spPr>
      </p:sp>
      <p:sp>
        <p:nvSpPr>
          <p:cNvPr id="27" name="Text 25"/>
          <p:cNvSpPr/>
          <p:nvPr/>
        </p:nvSpPr>
        <p:spPr>
          <a:xfrm>
            <a:off x="896112" y="4032504"/>
            <a:ext cx="3108960" cy="18288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Cuisine search</a:t>
            </a:r>
            <a:endParaRPr lang="en-US" sz="1500" dirty="0"/>
          </a:p>
        </p:txBody>
      </p:sp>
      <p:sp>
        <p:nvSpPr>
          <p:cNvPr id="28" name="Shape 26"/>
          <p:cNvSpPr/>
          <p:nvPr/>
        </p:nvSpPr>
        <p:spPr>
          <a:xfrm>
            <a:off x="685800" y="4590288"/>
            <a:ext cx="91440" cy="91440"/>
          </a:xfrm>
          <a:prstGeom prst="ellipse">
            <a:avLst/>
          </a:prstGeom>
          <a:solidFill>
            <a:srgbClr val="178B52"/>
          </a:solidFill>
          <a:ln w="12700">
            <a:solidFill>
              <a:srgbClr val="178B52">
                <a:alpha val="0"/>
              </a:srgbClr>
            </a:solidFill>
            <a:prstDash val="solid"/>
          </a:ln>
        </p:spPr>
      </p:sp>
      <p:sp>
        <p:nvSpPr>
          <p:cNvPr id="29" name="Text 27"/>
          <p:cNvSpPr/>
          <p:nvPr/>
        </p:nvSpPr>
        <p:spPr>
          <a:xfrm>
            <a:off x="896112" y="4517136"/>
            <a:ext cx="3108960" cy="18288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Pull to refresh</a:t>
            </a:r>
            <a:endParaRPr lang="en-US" sz="1500" dirty="0"/>
          </a:p>
        </p:txBody>
      </p:sp>
      <p:sp>
        <p:nvSpPr>
          <p:cNvPr id="30" name="Shape 28"/>
          <p:cNvSpPr/>
          <p:nvPr/>
        </p:nvSpPr>
        <p:spPr>
          <a:xfrm>
            <a:off x="594360" y="6044184"/>
            <a:ext cx="10972800" cy="13716"/>
          </a:xfrm>
          <a:prstGeom prst="rect">
            <a:avLst/>
          </a:prstGeom>
          <a:solidFill>
            <a:srgbClr val="F0DED6"/>
          </a:solidFill>
          <a:ln w="12700">
            <a:solidFill>
              <a:srgbClr val="F0DED6">
                <a:alpha val="0"/>
              </a:srgbClr>
            </a:solidFill>
            <a:prstDash val="solid"/>
          </a:ln>
        </p:spPr>
      </p:sp>
      <p:sp>
        <p:nvSpPr>
          <p:cNvPr id="31" name="Text 29"/>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747474"/>
                </a:solidFill>
                <a:latin typeface="Inter" pitchFamily="34" charset="0"/>
                <a:ea typeface="Inter" pitchFamily="34" charset="-122"/>
                <a:cs typeface="Inter" pitchFamily="34" charset="-120"/>
              </a:rPr>
              <a:t>VendrGo</a:t>
            </a:r>
            <a:endParaRPr lang="en-US" sz="1100" dirty="0"/>
          </a:p>
        </p:txBody>
      </p:sp>
      <p:sp>
        <p:nvSpPr>
          <p:cNvPr id="32" name="Text 30"/>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747474"/>
                </a:solidFill>
                <a:latin typeface="Inter" pitchFamily="34" charset="0"/>
                <a:ea typeface="Inter" pitchFamily="34" charset="-122"/>
                <a:cs typeface="Inter"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A"/>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178B52"/>
          </a:solidFill>
          <a:ln w="12700">
            <a:solidFill>
              <a:srgbClr val="178B52">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Customer</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1F1F1F"/>
                </a:solidFill>
                <a:latin typeface="Inter" pitchFamily="34" charset="0"/>
                <a:ea typeface="Inter" pitchFamily="34" charset="-122"/>
                <a:cs typeface="Inter" pitchFamily="34" charset="-120"/>
              </a:rPr>
              <a:t>Tap a pin. Pick a stall.</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A map that makes nearby choices obvious</a:t>
            </a:r>
            <a:endParaRPr lang="en-US" sz="1200" dirty="0"/>
          </a:p>
        </p:txBody>
      </p:sp>
      <p:sp>
        <p:nvSpPr>
          <p:cNvPr id="6" name="Shape 4"/>
          <p:cNvSpPr/>
          <p:nvPr/>
        </p:nvSpPr>
        <p:spPr>
          <a:xfrm>
            <a:off x="640080" y="1828800"/>
            <a:ext cx="6766560" cy="3154680"/>
          </a:xfrm>
          <a:prstGeom prst="roundRect">
            <a:avLst/>
          </a:prstGeom>
          <a:solidFill>
            <a:srgbClr val="E9E2D2"/>
          </a:solidFill>
          <a:ln w="12700">
            <a:solidFill>
              <a:srgbClr val="E9E2D2">
                <a:alpha val="0"/>
              </a:srgbClr>
            </a:solidFill>
            <a:prstDash val="solid"/>
          </a:ln>
        </p:spPr>
      </p:sp>
      <p:sp>
        <p:nvSpPr>
          <p:cNvPr id="7" name="Shape 5"/>
          <p:cNvSpPr/>
          <p:nvPr/>
        </p:nvSpPr>
        <p:spPr>
          <a:xfrm>
            <a:off x="1097280" y="2377440"/>
            <a:ext cx="2468880" cy="109728"/>
          </a:xfrm>
          <a:prstGeom prst="rect">
            <a:avLst/>
          </a:prstGeom>
          <a:solidFill>
            <a:srgbClr val="FFFFFF"/>
          </a:solidFill>
          <a:ln w="12700">
            <a:solidFill>
              <a:srgbClr val="FFFFFF">
                <a:alpha val="0"/>
              </a:srgbClr>
            </a:solidFill>
            <a:prstDash val="solid"/>
          </a:ln>
        </p:spPr>
      </p:sp>
      <p:sp>
        <p:nvSpPr>
          <p:cNvPr id="8" name="Shape 6"/>
          <p:cNvSpPr/>
          <p:nvPr/>
        </p:nvSpPr>
        <p:spPr>
          <a:xfrm>
            <a:off x="3383280" y="1920240"/>
            <a:ext cx="109728" cy="2377440"/>
          </a:xfrm>
          <a:prstGeom prst="rect">
            <a:avLst/>
          </a:prstGeom>
          <a:solidFill>
            <a:srgbClr val="FFFFFF"/>
          </a:solidFill>
          <a:ln w="12700">
            <a:solidFill>
              <a:srgbClr val="FFFFFF">
                <a:alpha val="0"/>
              </a:srgbClr>
            </a:solidFill>
            <a:prstDash val="solid"/>
          </a:ln>
        </p:spPr>
      </p:sp>
      <p:sp>
        <p:nvSpPr>
          <p:cNvPr id="9" name="Shape 7"/>
          <p:cNvSpPr/>
          <p:nvPr/>
        </p:nvSpPr>
        <p:spPr>
          <a:xfrm>
            <a:off x="4937760" y="2468880"/>
            <a:ext cx="2103120" cy="109728"/>
          </a:xfrm>
          <a:prstGeom prst="rect">
            <a:avLst/>
          </a:prstGeom>
          <a:solidFill>
            <a:srgbClr val="FFFFFF"/>
          </a:solidFill>
          <a:ln w="12700">
            <a:solidFill>
              <a:srgbClr val="FFFFFF">
                <a:alpha val="0"/>
              </a:srgbClr>
            </a:solidFill>
            <a:prstDash val="solid"/>
          </a:ln>
        </p:spPr>
      </p:sp>
      <p:sp>
        <p:nvSpPr>
          <p:cNvPr id="10" name="Shape 8"/>
          <p:cNvSpPr/>
          <p:nvPr/>
        </p:nvSpPr>
        <p:spPr>
          <a:xfrm>
            <a:off x="5989320" y="2926080"/>
            <a:ext cx="109728" cy="1463040"/>
          </a:xfrm>
          <a:prstGeom prst="rect">
            <a:avLst/>
          </a:prstGeom>
          <a:solidFill>
            <a:srgbClr val="FFFFFF"/>
          </a:solidFill>
          <a:ln w="12700">
            <a:solidFill>
              <a:srgbClr val="FFFFFF">
                <a:alpha val="0"/>
              </a:srgbClr>
            </a:solidFill>
            <a:prstDash val="solid"/>
          </a:ln>
        </p:spPr>
      </p:sp>
      <p:sp>
        <p:nvSpPr>
          <p:cNvPr id="11" name="Shape 9"/>
          <p:cNvSpPr/>
          <p:nvPr/>
        </p:nvSpPr>
        <p:spPr>
          <a:xfrm>
            <a:off x="1600200" y="3977640"/>
            <a:ext cx="4114800" cy="109728"/>
          </a:xfrm>
          <a:prstGeom prst="rect">
            <a:avLst/>
          </a:prstGeom>
          <a:solidFill>
            <a:srgbClr val="FFFFFF"/>
          </a:solidFill>
          <a:ln w="12700">
            <a:solidFill>
              <a:srgbClr val="FFFFFF">
                <a:alpha val="0"/>
              </a:srgbClr>
            </a:solidFill>
            <a:prstDash val="solid"/>
          </a:ln>
        </p:spPr>
      </p:sp>
      <p:sp>
        <p:nvSpPr>
          <p:cNvPr id="12" name="Shape 10"/>
          <p:cNvSpPr/>
          <p:nvPr/>
        </p:nvSpPr>
        <p:spPr>
          <a:xfrm>
            <a:off x="1417320" y="2240280"/>
            <a:ext cx="310896" cy="402336"/>
          </a:xfrm>
          <a:prstGeom prst="teardrop">
            <a:avLst/>
          </a:prstGeom>
          <a:solidFill>
            <a:srgbClr val="FF6B35"/>
          </a:solidFill>
          <a:ln w="12700">
            <a:solidFill>
              <a:srgbClr val="FF6B35">
                <a:alpha val="0"/>
              </a:srgbClr>
            </a:solidFill>
            <a:prstDash val="solid"/>
          </a:ln>
        </p:spPr>
      </p:sp>
      <p:sp>
        <p:nvSpPr>
          <p:cNvPr id="13" name="Shape 11"/>
          <p:cNvSpPr/>
          <p:nvPr/>
        </p:nvSpPr>
        <p:spPr>
          <a:xfrm>
            <a:off x="1508760" y="2331720"/>
            <a:ext cx="128016" cy="128016"/>
          </a:xfrm>
          <a:prstGeom prst="ellipse">
            <a:avLst/>
          </a:prstGeom>
          <a:solidFill>
            <a:srgbClr val="FFFFFF"/>
          </a:solidFill>
          <a:ln w="12700">
            <a:solidFill>
              <a:srgbClr val="FFFFFF">
                <a:alpha val="0"/>
              </a:srgbClr>
            </a:solidFill>
            <a:prstDash val="solid"/>
          </a:ln>
        </p:spPr>
      </p:sp>
      <p:sp>
        <p:nvSpPr>
          <p:cNvPr id="14" name="Shape 12"/>
          <p:cNvSpPr/>
          <p:nvPr/>
        </p:nvSpPr>
        <p:spPr>
          <a:xfrm>
            <a:off x="2926080" y="3291840"/>
            <a:ext cx="310896" cy="402336"/>
          </a:xfrm>
          <a:prstGeom prst="teardrop">
            <a:avLst/>
          </a:prstGeom>
          <a:solidFill>
            <a:srgbClr val="747474"/>
          </a:solidFill>
          <a:ln w="12700">
            <a:solidFill>
              <a:srgbClr val="747474">
                <a:alpha val="0"/>
              </a:srgbClr>
            </a:solidFill>
            <a:prstDash val="solid"/>
          </a:ln>
        </p:spPr>
      </p:sp>
      <p:sp>
        <p:nvSpPr>
          <p:cNvPr id="15" name="Shape 13"/>
          <p:cNvSpPr/>
          <p:nvPr/>
        </p:nvSpPr>
        <p:spPr>
          <a:xfrm>
            <a:off x="3017520" y="3383280"/>
            <a:ext cx="128016" cy="128016"/>
          </a:xfrm>
          <a:prstGeom prst="ellipse">
            <a:avLst/>
          </a:prstGeom>
          <a:solidFill>
            <a:srgbClr val="FFFFFF"/>
          </a:solidFill>
          <a:ln w="12700">
            <a:solidFill>
              <a:srgbClr val="FFFFFF">
                <a:alpha val="0"/>
              </a:srgbClr>
            </a:solidFill>
            <a:prstDash val="solid"/>
          </a:ln>
        </p:spPr>
      </p:sp>
      <p:sp>
        <p:nvSpPr>
          <p:cNvPr id="16" name="Shape 14"/>
          <p:cNvSpPr/>
          <p:nvPr/>
        </p:nvSpPr>
        <p:spPr>
          <a:xfrm>
            <a:off x="4800600" y="2377440"/>
            <a:ext cx="310896" cy="402336"/>
          </a:xfrm>
          <a:prstGeom prst="teardrop">
            <a:avLst/>
          </a:prstGeom>
          <a:solidFill>
            <a:srgbClr val="FF6B35"/>
          </a:solidFill>
          <a:ln w="12700">
            <a:solidFill>
              <a:srgbClr val="FF6B35">
                <a:alpha val="0"/>
              </a:srgbClr>
            </a:solidFill>
            <a:prstDash val="solid"/>
          </a:ln>
        </p:spPr>
      </p:sp>
      <p:sp>
        <p:nvSpPr>
          <p:cNvPr id="17" name="Shape 15"/>
          <p:cNvSpPr/>
          <p:nvPr/>
        </p:nvSpPr>
        <p:spPr>
          <a:xfrm>
            <a:off x="4892040" y="2468880"/>
            <a:ext cx="128016" cy="128016"/>
          </a:xfrm>
          <a:prstGeom prst="ellipse">
            <a:avLst/>
          </a:prstGeom>
          <a:solidFill>
            <a:srgbClr val="FFFFFF"/>
          </a:solidFill>
          <a:ln w="12700">
            <a:solidFill>
              <a:srgbClr val="FFFFFF">
                <a:alpha val="0"/>
              </a:srgbClr>
            </a:solidFill>
            <a:prstDash val="solid"/>
          </a:ln>
        </p:spPr>
      </p:sp>
      <p:sp>
        <p:nvSpPr>
          <p:cNvPr id="18" name="Shape 16"/>
          <p:cNvSpPr/>
          <p:nvPr/>
        </p:nvSpPr>
        <p:spPr>
          <a:xfrm>
            <a:off x="5989320" y="3840480"/>
            <a:ext cx="310896" cy="402336"/>
          </a:xfrm>
          <a:prstGeom prst="teardrop">
            <a:avLst/>
          </a:prstGeom>
          <a:solidFill>
            <a:srgbClr val="747474"/>
          </a:solidFill>
          <a:ln w="12700">
            <a:solidFill>
              <a:srgbClr val="747474">
                <a:alpha val="0"/>
              </a:srgbClr>
            </a:solidFill>
            <a:prstDash val="solid"/>
          </a:ln>
        </p:spPr>
      </p:sp>
      <p:sp>
        <p:nvSpPr>
          <p:cNvPr id="19" name="Shape 17"/>
          <p:cNvSpPr/>
          <p:nvPr/>
        </p:nvSpPr>
        <p:spPr>
          <a:xfrm>
            <a:off x="6080760" y="3931920"/>
            <a:ext cx="128016" cy="128016"/>
          </a:xfrm>
          <a:prstGeom prst="ellipse">
            <a:avLst/>
          </a:prstGeom>
          <a:solidFill>
            <a:srgbClr val="FFFFFF"/>
          </a:solidFill>
          <a:ln w="12700">
            <a:solidFill>
              <a:srgbClr val="FFFFFF">
                <a:alpha val="0"/>
              </a:srgbClr>
            </a:solidFill>
            <a:prstDash val="solid"/>
          </a:ln>
        </p:spPr>
      </p:sp>
      <p:sp>
        <p:nvSpPr>
          <p:cNvPr id="20" name="Shape 18"/>
          <p:cNvSpPr/>
          <p:nvPr/>
        </p:nvSpPr>
        <p:spPr>
          <a:xfrm>
            <a:off x="3611880" y="2468880"/>
            <a:ext cx="320040" cy="320040"/>
          </a:xfrm>
          <a:prstGeom prst="ellipse">
            <a:avLst/>
          </a:prstGeom>
          <a:solidFill>
            <a:srgbClr val="1F1F1F"/>
          </a:solidFill>
          <a:ln w="12700">
            <a:solidFill>
              <a:srgbClr val="1F1F1F">
                <a:alpha val="0"/>
              </a:srgbClr>
            </a:solidFill>
            <a:prstDash val="solid"/>
          </a:ln>
        </p:spPr>
      </p:sp>
      <p:sp>
        <p:nvSpPr>
          <p:cNvPr id="21" name="Text 19"/>
          <p:cNvSpPr/>
          <p:nvPr/>
        </p:nvSpPr>
        <p:spPr>
          <a:xfrm>
            <a:off x="3063240" y="2816352"/>
            <a:ext cx="1417320" cy="182880"/>
          </a:xfrm>
          <a:prstGeom prst="rect">
            <a:avLst/>
          </a:prstGeom>
          <a:noFill/>
          <a:ln/>
        </p:spPr>
        <p:txBody>
          <a:bodyPr wrap="square" lIns="0" tIns="0" rIns="0" bIns="0" rtlCol="0" anchor="ctr"/>
          <a:lstStyle/>
          <a:p>
            <a:pPr algn="ctr" indent="0" marL="0">
              <a:buNone/>
            </a:pPr>
            <a:r>
              <a:rPr lang="en-US" sz="1000" b="1" dirty="0">
                <a:solidFill>
                  <a:srgbClr val="1F1F1F"/>
                </a:solidFill>
                <a:latin typeface="Inter" pitchFamily="34" charset="0"/>
                <a:ea typeface="Inter" pitchFamily="34" charset="-122"/>
                <a:cs typeface="Inter" pitchFamily="34" charset="-120"/>
              </a:rPr>
              <a:t>Your position</a:t>
            </a:r>
            <a:endParaRPr lang="en-US" sz="1000" dirty="0"/>
          </a:p>
        </p:txBody>
      </p:sp>
      <p:sp>
        <p:nvSpPr>
          <p:cNvPr id="22" name="Shape 20"/>
          <p:cNvSpPr/>
          <p:nvPr/>
        </p:nvSpPr>
        <p:spPr>
          <a:xfrm>
            <a:off x="8055864" y="1993392"/>
            <a:ext cx="2834640" cy="1143000"/>
          </a:xfrm>
          <a:prstGeom prst="roundRect">
            <a:avLst/>
          </a:prstGeom>
          <a:solidFill>
            <a:srgbClr val="EAD8D1"/>
          </a:solidFill>
          <a:ln w="12700">
            <a:solidFill>
              <a:srgbClr val="EAD8D1">
                <a:alpha val="0"/>
              </a:srgbClr>
            </a:solidFill>
            <a:prstDash val="solid"/>
          </a:ln>
        </p:spPr>
      </p:sp>
      <p:sp>
        <p:nvSpPr>
          <p:cNvPr id="23" name="Shape 21"/>
          <p:cNvSpPr/>
          <p:nvPr/>
        </p:nvSpPr>
        <p:spPr>
          <a:xfrm>
            <a:off x="8001000" y="1920240"/>
            <a:ext cx="2834640" cy="1143000"/>
          </a:xfrm>
          <a:prstGeom prst="roundRect">
            <a:avLst/>
          </a:prstGeom>
          <a:solidFill>
            <a:srgbClr val="FFFFFF"/>
          </a:solidFill>
          <a:ln w="12700">
            <a:solidFill>
              <a:srgbClr val="FFFFFF">
                <a:alpha val="0"/>
              </a:srgbClr>
            </a:solidFill>
            <a:prstDash val="solid"/>
          </a:ln>
        </p:spPr>
      </p:sp>
      <p:sp>
        <p:nvSpPr>
          <p:cNvPr id="24" name="Text 22"/>
          <p:cNvSpPr/>
          <p:nvPr/>
        </p:nvSpPr>
        <p:spPr>
          <a:xfrm>
            <a:off x="8165592" y="2103120"/>
            <a:ext cx="250545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Orange = open</a:t>
            </a:r>
            <a:endParaRPr lang="en-US" sz="1500" dirty="0"/>
          </a:p>
        </p:txBody>
      </p:sp>
      <p:sp>
        <p:nvSpPr>
          <p:cNvPr id="25" name="Text 23"/>
          <p:cNvSpPr/>
          <p:nvPr/>
        </p:nvSpPr>
        <p:spPr>
          <a:xfrm>
            <a:off x="8165592" y="2441448"/>
            <a:ext cx="2505456" cy="52120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Grey = closed</a:t>
            </a:r>
            <a:endParaRPr lang="en-US" sz="1100" dirty="0"/>
          </a:p>
        </p:txBody>
      </p:sp>
      <p:sp>
        <p:nvSpPr>
          <p:cNvPr id="26" name="Shape 24"/>
          <p:cNvSpPr/>
          <p:nvPr/>
        </p:nvSpPr>
        <p:spPr>
          <a:xfrm>
            <a:off x="8055864" y="3456432"/>
            <a:ext cx="2834640" cy="1143000"/>
          </a:xfrm>
          <a:prstGeom prst="roundRect">
            <a:avLst/>
          </a:prstGeom>
          <a:solidFill>
            <a:srgbClr val="EAD8D1"/>
          </a:solidFill>
          <a:ln w="12700">
            <a:solidFill>
              <a:srgbClr val="EAD8D1">
                <a:alpha val="0"/>
              </a:srgbClr>
            </a:solidFill>
            <a:prstDash val="solid"/>
          </a:ln>
        </p:spPr>
      </p:sp>
      <p:sp>
        <p:nvSpPr>
          <p:cNvPr id="27" name="Shape 25"/>
          <p:cNvSpPr/>
          <p:nvPr/>
        </p:nvSpPr>
        <p:spPr>
          <a:xfrm>
            <a:off x="8001000" y="3383280"/>
            <a:ext cx="2834640" cy="1143000"/>
          </a:xfrm>
          <a:prstGeom prst="roundRect">
            <a:avLst/>
          </a:prstGeom>
          <a:solidFill>
            <a:srgbClr val="FFFFFF"/>
          </a:solidFill>
          <a:ln w="12700">
            <a:solidFill>
              <a:srgbClr val="FFFFFF">
                <a:alpha val="0"/>
              </a:srgbClr>
            </a:solidFill>
            <a:prstDash val="solid"/>
          </a:ln>
        </p:spPr>
      </p:sp>
      <p:sp>
        <p:nvSpPr>
          <p:cNvPr id="28" name="Text 26"/>
          <p:cNvSpPr/>
          <p:nvPr/>
        </p:nvSpPr>
        <p:spPr>
          <a:xfrm>
            <a:off x="8165592" y="3566160"/>
            <a:ext cx="250545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Tap any marker</a:t>
            </a:r>
            <a:endParaRPr lang="en-US" sz="1500" dirty="0"/>
          </a:p>
        </p:txBody>
      </p:sp>
      <p:sp>
        <p:nvSpPr>
          <p:cNvPr id="29" name="Text 27"/>
          <p:cNvSpPr/>
          <p:nvPr/>
        </p:nvSpPr>
        <p:spPr>
          <a:xfrm>
            <a:off x="8165592" y="3904488"/>
            <a:ext cx="2505456" cy="52120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Open the stall</a:t>
            </a:r>
            <a:endParaRPr lang="en-US" sz="1100" dirty="0"/>
          </a:p>
        </p:txBody>
      </p:sp>
      <p:sp>
        <p:nvSpPr>
          <p:cNvPr id="30" name="Shape 28"/>
          <p:cNvSpPr/>
          <p:nvPr/>
        </p:nvSpPr>
        <p:spPr>
          <a:xfrm>
            <a:off x="594360" y="6044184"/>
            <a:ext cx="10972800" cy="13716"/>
          </a:xfrm>
          <a:prstGeom prst="rect">
            <a:avLst/>
          </a:prstGeom>
          <a:solidFill>
            <a:srgbClr val="F0DED6"/>
          </a:solidFill>
          <a:ln w="12700">
            <a:solidFill>
              <a:srgbClr val="F0DED6">
                <a:alpha val="0"/>
              </a:srgbClr>
            </a:solidFill>
            <a:prstDash val="solid"/>
          </a:ln>
        </p:spPr>
      </p:sp>
      <p:sp>
        <p:nvSpPr>
          <p:cNvPr id="31" name="Text 29"/>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747474"/>
                </a:solidFill>
                <a:latin typeface="Inter" pitchFamily="34" charset="0"/>
                <a:ea typeface="Inter" pitchFamily="34" charset="-122"/>
                <a:cs typeface="Inter" pitchFamily="34" charset="-120"/>
              </a:rPr>
              <a:t>VendrGo</a:t>
            </a:r>
            <a:endParaRPr lang="en-US" sz="1100" dirty="0"/>
          </a:p>
        </p:txBody>
      </p:sp>
      <p:sp>
        <p:nvSpPr>
          <p:cNvPr id="32" name="Text 30"/>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747474"/>
                </a:solidFill>
                <a:latin typeface="Inter" pitchFamily="34" charset="0"/>
                <a:ea typeface="Inter" pitchFamily="34" charset="-122"/>
                <a:cs typeface="Inter"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A"/>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178B52"/>
          </a:solidFill>
          <a:ln w="12700">
            <a:solidFill>
              <a:srgbClr val="178B52">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Customer</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1F1F1F"/>
                </a:solidFill>
                <a:latin typeface="Inter" pitchFamily="34" charset="0"/>
                <a:ea typeface="Inter" pitchFamily="34" charset="-122"/>
                <a:cs typeface="Inter" pitchFamily="34" charset="-120"/>
              </a:rPr>
              <a:t>Know the stall before you go.</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Details, menu, hours, then directions</a:t>
            </a:r>
            <a:endParaRPr lang="en-US" sz="1200" dirty="0"/>
          </a:p>
        </p:txBody>
      </p:sp>
      <p:sp>
        <p:nvSpPr>
          <p:cNvPr id="6" name="Shape 4"/>
          <p:cNvSpPr/>
          <p:nvPr/>
        </p:nvSpPr>
        <p:spPr>
          <a:xfrm>
            <a:off x="640080" y="1874520"/>
            <a:ext cx="1261872" cy="292608"/>
          </a:xfrm>
          <a:prstGeom prst="roundRect">
            <a:avLst/>
          </a:prstGeom>
          <a:solidFill>
            <a:srgbClr val="178B52"/>
          </a:solidFill>
          <a:ln w="12700">
            <a:solidFill>
              <a:srgbClr val="178B52">
                <a:alpha val="0"/>
              </a:srgbClr>
            </a:solidFill>
            <a:prstDash val="solid"/>
          </a:ln>
        </p:spPr>
      </p:sp>
      <p:sp>
        <p:nvSpPr>
          <p:cNvPr id="7" name="Text 5"/>
          <p:cNvSpPr/>
          <p:nvPr/>
        </p:nvSpPr>
        <p:spPr>
          <a:xfrm>
            <a:off x="640080" y="1924812"/>
            <a:ext cx="12618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OPEN NOW</a:t>
            </a:r>
            <a:endParaRPr lang="en-US" sz="900" dirty="0"/>
          </a:p>
        </p:txBody>
      </p:sp>
      <p:sp>
        <p:nvSpPr>
          <p:cNvPr id="8" name="Shape 6"/>
          <p:cNvSpPr/>
          <p:nvPr/>
        </p:nvSpPr>
        <p:spPr>
          <a:xfrm>
            <a:off x="2194560" y="1874520"/>
            <a:ext cx="1261872" cy="292608"/>
          </a:xfrm>
          <a:prstGeom prst="roundRect">
            <a:avLst/>
          </a:prstGeom>
          <a:solidFill>
            <a:srgbClr val="FF6B35"/>
          </a:solidFill>
          <a:ln w="12700">
            <a:solidFill>
              <a:srgbClr val="FF6B35">
                <a:alpha val="0"/>
              </a:srgbClr>
            </a:solidFill>
            <a:prstDash val="solid"/>
          </a:ln>
        </p:spPr>
      </p:sp>
      <p:sp>
        <p:nvSpPr>
          <p:cNvPr id="9" name="Text 7"/>
          <p:cNvSpPr/>
          <p:nvPr/>
        </p:nvSpPr>
        <p:spPr>
          <a:xfrm>
            <a:off x="2194560" y="1924812"/>
            <a:ext cx="12618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CATEGORY</a:t>
            </a:r>
            <a:endParaRPr lang="en-US" sz="900" dirty="0"/>
          </a:p>
        </p:txBody>
      </p:sp>
      <p:sp>
        <p:nvSpPr>
          <p:cNvPr id="10" name="Shape 8"/>
          <p:cNvSpPr/>
          <p:nvPr/>
        </p:nvSpPr>
        <p:spPr>
          <a:xfrm>
            <a:off x="3749040" y="1874520"/>
            <a:ext cx="1261872" cy="292608"/>
          </a:xfrm>
          <a:prstGeom prst="roundRect">
            <a:avLst/>
          </a:prstGeom>
          <a:solidFill>
            <a:srgbClr val="CC4009"/>
          </a:solidFill>
          <a:ln w="12700">
            <a:solidFill>
              <a:srgbClr val="CC4009">
                <a:alpha val="0"/>
              </a:srgbClr>
            </a:solidFill>
            <a:prstDash val="solid"/>
          </a:ln>
        </p:spPr>
      </p:sp>
      <p:sp>
        <p:nvSpPr>
          <p:cNvPr id="11" name="Text 9"/>
          <p:cNvSpPr/>
          <p:nvPr/>
        </p:nvSpPr>
        <p:spPr>
          <a:xfrm>
            <a:off x="3749040" y="1924812"/>
            <a:ext cx="1261872"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DISTANCE</a:t>
            </a:r>
            <a:endParaRPr lang="en-US" sz="900" dirty="0"/>
          </a:p>
        </p:txBody>
      </p:sp>
      <p:sp>
        <p:nvSpPr>
          <p:cNvPr id="12" name="Shape 10"/>
          <p:cNvSpPr/>
          <p:nvPr/>
        </p:nvSpPr>
        <p:spPr>
          <a:xfrm>
            <a:off x="694944" y="2542032"/>
            <a:ext cx="2834640" cy="1965960"/>
          </a:xfrm>
          <a:prstGeom prst="roundRect">
            <a:avLst/>
          </a:prstGeom>
          <a:solidFill>
            <a:srgbClr val="EAD8D1"/>
          </a:solidFill>
          <a:ln w="12700">
            <a:solidFill>
              <a:srgbClr val="EAD8D1">
                <a:alpha val="0"/>
              </a:srgbClr>
            </a:solidFill>
            <a:prstDash val="solid"/>
          </a:ln>
        </p:spPr>
      </p:sp>
      <p:sp>
        <p:nvSpPr>
          <p:cNvPr id="13" name="Shape 11"/>
          <p:cNvSpPr/>
          <p:nvPr/>
        </p:nvSpPr>
        <p:spPr>
          <a:xfrm>
            <a:off x="640080" y="2468880"/>
            <a:ext cx="2834640" cy="1965960"/>
          </a:xfrm>
          <a:prstGeom prst="roundRect">
            <a:avLst/>
          </a:prstGeom>
          <a:solidFill>
            <a:srgbClr val="FFFFFF"/>
          </a:solidFill>
          <a:ln w="12700">
            <a:solidFill>
              <a:srgbClr val="FFFFFF">
                <a:alpha val="0"/>
              </a:srgbClr>
            </a:solidFill>
            <a:prstDash val="solid"/>
          </a:ln>
        </p:spPr>
      </p:sp>
      <p:sp>
        <p:nvSpPr>
          <p:cNvPr id="14" name="Text 12"/>
          <p:cNvSpPr/>
          <p:nvPr/>
        </p:nvSpPr>
        <p:spPr>
          <a:xfrm>
            <a:off x="804672" y="2651760"/>
            <a:ext cx="250545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Big stall photo</a:t>
            </a:r>
            <a:endParaRPr lang="en-US" sz="1500" dirty="0"/>
          </a:p>
        </p:txBody>
      </p:sp>
      <p:sp>
        <p:nvSpPr>
          <p:cNvPr id="15" name="Text 13"/>
          <p:cNvSpPr/>
          <p:nvPr/>
        </p:nvSpPr>
        <p:spPr>
          <a:xfrm>
            <a:off x="804672" y="2990088"/>
            <a:ext cx="2505456" cy="134416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Photo placeholder</a:t>
            </a:r>
            <a:endParaRPr lang="en-US" sz="1100" dirty="0"/>
          </a:p>
          <a:p>
            <a:pPr indent="0" marL="0">
              <a:buNone/>
            </a:pPr>
            <a:r>
              <a:rPr lang="en-US" sz="1100" dirty="0">
                <a:solidFill>
                  <a:srgbClr val="747474"/>
                </a:solidFill>
                <a:latin typeface="Inter" pitchFamily="34" charset="0"/>
                <a:ea typeface="Inter" pitchFamily="34" charset="-122"/>
                <a:cs typeface="Inter" pitchFamily="34" charset="-120"/>
              </a:rPr>
              <a:t>Address and opening hours</a:t>
            </a:r>
            <a:endParaRPr lang="en-US" sz="1100" dirty="0"/>
          </a:p>
        </p:txBody>
      </p:sp>
      <p:sp>
        <p:nvSpPr>
          <p:cNvPr id="16" name="Shape 14"/>
          <p:cNvSpPr/>
          <p:nvPr/>
        </p:nvSpPr>
        <p:spPr>
          <a:xfrm>
            <a:off x="3758184" y="2130552"/>
            <a:ext cx="2971800" cy="1463040"/>
          </a:xfrm>
          <a:prstGeom prst="roundRect">
            <a:avLst/>
          </a:prstGeom>
          <a:solidFill>
            <a:srgbClr val="EAD8D1"/>
          </a:solidFill>
          <a:ln w="12700">
            <a:solidFill>
              <a:srgbClr val="EAD8D1">
                <a:alpha val="0"/>
              </a:srgbClr>
            </a:solidFill>
            <a:prstDash val="solid"/>
          </a:ln>
        </p:spPr>
      </p:sp>
      <p:sp>
        <p:nvSpPr>
          <p:cNvPr id="17" name="Shape 15"/>
          <p:cNvSpPr/>
          <p:nvPr/>
        </p:nvSpPr>
        <p:spPr>
          <a:xfrm>
            <a:off x="3703320" y="2057400"/>
            <a:ext cx="2971800" cy="1463040"/>
          </a:xfrm>
          <a:prstGeom prst="roundRect">
            <a:avLst/>
          </a:prstGeom>
          <a:solidFill>
            <a:srgbClr val="FFFFFF"/>
          </a:solidFill>
          <a:ln w="12700">
            <a:solidFill>
              <a:srgbClr val="FFFFFF">
                <a:alpha val="0"/>
              </a:srgbClr>
            </a:solidFill>
            <a:prstDash val="solid"/>
          </a:ln>
        </p:spPr>
      </p:sp>
      <p:sp>
        <p:nvSpPr>
          <p:cNvPr id="18" name="Text 16"/>
          <p:cNvSpPr/>
          <p:nvPr/>
        </p:nvSpPr>
        <p:spPr>
          <a:xfrm>
            <a:off x="3867912" y="2240280"/>
            <a:ext cx="264261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About the stall</a:t>
            </a:r>
            <a:endParaRPr lang="en-US" sz="1500" dirty="0"/>
          </a:p>
        </p:txBody>
      </p:sp>
      <p:sp>
        <p:nvSpPr>
          <p:cNvPr id="19" name="Text 17"/>
          <p:cNvSpPr/>
          <p:nvPr/>
        </p:nvSpPr>
        <p:spPr>
          <a:xfrm>
            <a:off x="3867912" y="2578608"/>
            <a:ext cx="2642616" cy="84124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Description and menu photo</a:t>
            </a:r>
            <a:endParaRPr lang="en-US" sz="1100" dirty="0"/>
          </a:p>
        </p:txBody>
      </p:sp>
      <p:sp>
        <p:nvSpPr>
          <p:cNvPr id="20" name="Shape 18"/>
          <p:cNvSpPr/>
          <p:nvPr/>
        </p:nvSpPr>
        <p:spPr>
          <a:xfrm>
            <a:off x="7132320" y="2468880"/>
            <a:ext cx="3657600" cy="1115568"/>
          </a:xfrm>
          <a:prstGeom prst="roundRect">
            <a:avLst/>
          </a:prstGeom>
          <a:solidFill>
            <a:srgbClr val="FF6B35"/>
          </a:solidFill>
          <a:ln w="12700">
            <a:solidFill>
              <a:srgbClr val="FF6B35">
                <a:alpha val="0"/>
              </a:srgbClr>
            </a:solidFill>
            <a:prstDash val="solid"/>
          </a:ln>
        </p:spPr>
      </p:sp>
      <p:sp>
        <p:nvSpPr>
          <p:cNvPr id="21" name="Text 19"/>
          <p:cNvSpPr/>
          <p:nvPr/>
        </p:nvSpPr>
        <p:spPr>
          <a:xfrm>
            <a:off x="7406640" y="2807208"/>
            <a:ext cx="3108960"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Inter" pitchFamily="34" charset="0"/>
                <a:ea typeface="Inter" pitchFamily="34" charset="-122"/>
                <a:cs typeface="Inter" pitchFamily="34" charset="-120"/>
              </a:rPr>
              <a:t>GET DIRECTIONS</a:t>
            </a:r>
            <a:endParaRPr lang="en-US" sz="2200" dirty="0"/>
          </a:p>
        </p:txBody>
      </p:sp>
      <p:sp>
        <p:nvSpPr>
          <p:cNvPr id="22" name="Shape 20"/>
          <p:cNvSpPr/>
          <p:nvPr/>
        </p:nvSpPr>
        <p:spPr>
          <a:xfrm>
            <a:off x="8823960" y="4114800"/>
            <a:ext cx="310896" cy="402336"/>
          </a:xfrm>
          <a:prstGeom prst="teardrop">
            <a:avLst/>
          </a:prstGeom>
          <a:solidFill>
            <a:srgbClr val="178B52"/>
          </a:solidFill>
          <a:ln w="12700">
            <a:solidFill>
              <a:srgbClr val="178B52">
                <a:alpha val="0"/>
              </a:srgbClr>
            </a:solidFill>
            <a:prstDash val="solid"/>
          </a:ln>
        </p:spPr>
      </p:sp>
      <p:sp>
        <p:nvSpPr>
          <p:cNvPr id="23" name="Shape 21"/>
          <p:cNvSpPr/>
          <p:nvPr/>
        </p:nvSpPr>
        <p:spPr>
          <a:xfrm>
            <a:off x="8915400" y="4206240"/>
            <a:ext cx="128016" cy="128016"/>
          </a:xfrm>
          <a:prstGeom prst="ellipse">
            <a:avLst/>
          </a:prstGeom>
          <a:solidFill>
            <a:srgbClr val="FFFFFF"/>
          </a:solidFill>
          <a:ln w="12700">
            <a:solidFill>
              <a:srgbClr val="FFFFFF">
                <a:alpha val="0"/>
              </a:srgbClr>
            </a:solidFill>
            <a:prstDash val="solid"/>
          </a:ln>
        </p:spPr>
      </p:sp>
      <p:sp>
        <p:nvSpPr>
          <p:cNvPr id="24" name="Text 22"/>
          <p:cNvSpPr/>
          <p:nvPr/>
        </p:nvSpPr>
        <p:spPr>
          <a:xfrm>
            <a:off x="8046720" y="4663440"/>
            <a:ext cx="1920240" cy="182880"/>
          </a:xfrm>
          <a:prstGeom prst="rect">
            <a:avLst/>
          </a:prstGeom>
          <a:noFill/>
          <a:ln/>
        </p:spPr>
        <p:txBody>
          <a:bodyPr wrap="square" lIns="0" tIns="0" rIns="0" bIns="0" rtlCol="0" anchor="ctr"/>
          <a:lstStyle/>
          <a:p>
            <a:pPr algn="ctr" indent="0" marL="0">
              <a:buNone/>
            </a:pPr>
            <a:r>
              <a:rPr lang="en-US" sz="1300" b="1" dirty="0">
                <a:solidFill>
                  <a:srgbClr val="747474"/>
                </a:solidFill>
                <a:latin typeface="Inter" pitchFamily="34" charset="0"/>
                <a:ea typeface="Inter" pitchFamily="34" charset="-122"/>
                <a:cs typeface="Inter" pitchFamily="34" charset="-120"/>
              </a:rPr>
              <a:t>Opens Google Maps</a:t>
            </a:r>
            <a:endParaRPr lang="en-US" sz="1300" dirty="0"/>
          </a:p>
        </p:txBody>
      </p:sp>
      <p:sp>
        <p:nvSpPr>
          <p:cNvPr id="25" name="Shape 23"/>
          <p:cNvSpPr/>
          <p:nvPr/>
        </p:nvSpPr>
        <p:spPr>
          <a:xfrm>
            <a:off x="594360" y="6044184"/>
            <a:ext cx="10972800" cy="13716"/>
          </a:xfrm>
          <a:prstGeom prst="rect">
            <a:avLst/>
          </a:prstGeom>
          <a:solidFill>
            <a:srgbClr val="F0DED6"/>
          </a:solidFill>
          <a:ln w="12700">
            <a:solidFill>
              <a:srgbClr val="F0DED6">
                <a:alpha val="0"/>
              </a:srgbClr>
            </a:solidFill>
            <a:prstDash val="solid"/>
          </a:ln>
        </p:spPr>
      </p:sp>
      <p:sp>
        <p:nvSpPr>
          <p:cNvPr id="26" name="Text 24"/>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747474"/>
                </a:solidFill>
                <a:latin typeface="Inter" pitchFamily="34" charset="0"/>
                <a:ea typeface="Inter" pitchFamily="34" charset="-122"/>
                <a:cs typeface="Inter" pitchFamily="34" charset="-120"/>
              </a:rPr>
              <a:t>VendrGo</a:t>
            </a:r>
            <a:endParaRPr lang="en-US" sz="1100" dirty="0"/>
          </a:p>
        </p:txBody>
      </p:sp>
      <p:sp>
        <p:nvSpPr>
          <p:cNvPr id="27" name="Text 25"/>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747474"/>
                </a:solidFill>
                <a:latin typeface="Inter" pitchFamily="34" charset="0"/>
                <a:ea typeface="Inter" pitchFamily="34" charset="-122"/>
                <a:cs typeface="Inter"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A"/>
        </a:solidFill>
      </p:bgPr>
    </p:bg>
    <p:spTree>
      <p:nvGrpSpPr>
        <p:cNvPr id="1" name=""/>
        <p:cNvGrpSpPr/>
        <p:nvPr/>
      </p:nvGrpSpPr>
      <p:grpSpPr>
        <a:xfrm>
          <a:off x="0" y="0"/>
          <a:ext cx="0" cy="0"/>
          <a:chOff x="0" y="0"/>
          <a:chExt cx="0" cy="0"/>
        </a:xfrm>
      </p:grpSpPr>
      <p:sp>
        <p:nvSpPr>
          <p:cNvPr id="2" name="Shape 0"/>
          <p:cNvSpPr/>
          <p:nvPr/>
        </p:nvSpPr>
        <p:spPr>
          <a:xfrm>
            <a:off x="594360" y="438912"/>
            <a:ext cx="822960" cy="292608"/>
          </a:xfrm>
          <a:prstGeom prst="roundRect">
            <a:avLst/>
          </a:prstGeom>
          <a:solidFill>
            <a:srgbClr val="178B52"/>
          </a:solidFill>
          <a:ln w="12700">
            <a:solidFill>
              <a:srgbClr val="178B52">
                <a:alpha val="0"/>
              </a:srgbClr>
            </a:solidFill>
            <a:prstDash val="solid"/>
          </a:ln>
        </p:spPr>
      </p:sp>
      <p:sp>
        <p:nvSpPr>
          <p:cNvPr id="3" name="Text 1"/>
          <p:cNvSpPr/>
          <p:nvPr/>
        </p:nvSpPr>
        <p:spPr>
          <a:xfrm>
            <a:off x="594360" y="489204"/>
            <a:ext cx="82296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Customer</a:t>
            </a:r>
            <a:endParaRPr lang="en-US" sz="900" dirty="0"/>
          </a:p>
        </p:txBody>
      </p:sp>
      <p:sp>
        <p:nvSpPr>
          <p:cNvPr id="4" name="Text 2"/>
          <p:cNvSpPr/>
          <p:nvPr/>
        </p:nvSpPr>
        <p:spPr>
          <a:xfrm>
            <a:off x="594360" y="841248"/>
            <a:ext cx="10789920" cy="502920"/>
          </a:xfrm>
          <a:prstGeom prst="rect">
            <a:avLst/>
          </a:prstGeom>
          <a:noFill/>
          <a:ln/>
        </p:spPr>
        <p:txBody>
          <a:bodyPr wrap="square" lIns="0" tIns="0" rIns="0" bIns="0" rtlCol="0" anchor="ctr"/>
          <a:lstStyle/>
          <a:p>
            <a:pPr indent="0" marL="0">
              <a:buNone/>
            </a:pPr>
            <a:r>
              <a:rPr lang="en-US" sz="2900" b="1" dirty="0">
                <a:solidFill>
                  <a:srgbClr val="1F1F1F"/>
                </a:solidFill>
                <a:latin typeface="Inter" pitchFamily="34" charset="0"/>
                <a:ea typeface="Inter" pitchFamily="34" charset="-122"/>
                <a:cs typeface="Inter" pitchFamily="34" charset="-120"/>
              </a:rPr>
              <a:t>Love it? Save it.</a:t>
            </a:r>
            <a:endParaRPr lang="en-US" sz="2900" dirty="0"/>
          </a:p>
        </p:txBody>
      </p:sp>
      <p:sp>
        <p:nvSpPr>
          <p:cNvPr id="5" name="Text 3"/>
          <p:cNvSpPr/>
          <p:nvPr/>
        </p:nvSpPr>
        <p:spPr>
          <a:xfrm>
            <a:off x="594360" y="1353312"/>
            <a:ext cx="9692640" cy="201168"/>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Favorites and profile stay close</a:t>
            </a:r>
            <a:endParaRPr lang="en-US" sz="1200" dirty="0"/>
          </a:p>
        </p:txBody>
      </p:sp>
      <p:sp>
        <p:nvSpPr>
          <p:cNvPr id="6" name="Shape 4"/>
          <p:cNvSpPr/>
          <p:nvPr/>
        </p:nvSpPr>
        <p:spPr>
          <a:xfrm>
            <a:off x="914400" y="1828800"/>
            <a:ext cx="2743200" cy="2377440"/>
          </a:xfrm>
          <a:prstGeom prst="heart">
            <a:avLst/>
          </a:prstGeom>
          <a:solidFill>
            <a:srgbClr val="FF6B35"/>
          </a:solidFill>
          <a:ln w="12700">
            <a:solidFill>
              <a:srgbClr val="FF6B35">
                <a:alpha val="0"/>
              </a:srgbClr>
            </a:solidFill>
            <a:prstDash val="solid"/>
          </a:ln>
        </p:spPr>
      </p:sp>
      <p:sp>
        <p:nvSpPr>
          <p:cNvPr id="7" name="Text 5"/>
          <p:cNvSpPr/>
          <p:nvPr/>
        </p:nvSpPr>
        <p:spPr>
          <a:xfrm>
            <a:off x="1325880" y="2679192"/>
            <a:ext cx="1920240" cy="256032"/>
          </a:xfrm>
          <a:prstGeom prst="rect">
            <a:avLst/>
          </a:prstGeom>
          <a:noFill/>
          <a:ln/>
        </p:spPr>
        <p:txBody>
          <a:bodyPr wrap="square" lIns="0" tIns="0" rIns="0" bIns="0" rtlCol="0" anchor="ctr"/>
          <a:lstStyle/>
          <a:p>
            <a:pPr algn="ctr" indent="0" marL="0">
              <a:buNone/>
            </a:pPr>
            <a:r>
              <a:rPr lang="en-US" sz="2100" b="1" dirty="0">
                <a:solidFill>
                  <a:srgbClr val="FFFFFF"/>
                </a:solidFill>
                <a:latin typeface="Inter" pitchFamily="34" charset="0"/>
                <a:ea typeface="Inter" pitchFamily="34" charset="-122"/>
                <a:cs typeface="Inter" pitchFamily="34" charset="-120"/>
              </a:rPr>
              <a:t>FAVORITES</a:t>
            </a:r>
            <a:endParaRPr lang="en-US" sz="2100" dirty="0"/>
          </a:p>
        </p:txBody>
      </p:sp>
      <p:sp>
        <p:nvSpPr>
          <p:cNvPr id="8" name="Text 6"/>
          <p:cNvSpPr/>
          <p:nvPr/>
        </p:nvSpPr>
        <p:spPr>
          <a:xfrm>
            <a:off x="1325880" y="3063240"/>
            <a:ext cx="19202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Tap the heart</a:t>
            </a:r>
            <a:endParaRPr lang="en-US" sz="1500" dirty="0"/>
          </a:p>
          <a:p>
            <a:pPr algn="ctr" indent="0" marL="0">
              <a:buNone/>
            </a:pPr>
            <a:r>
              <a:rPr lang="en-US" sz="1500" b="1" dirty="0">
                <a:solidFill>
                  <a:srgbClr val="FFFFFF"/>
                </a:solidFill>
                <a:latin typeface="Inter" pitchFamily="34" charset="0"/>
                <a:ea typeface="Inter" pitchFamily="34" charset="-122"/>
                <a:cs typeface="Inter" pitchFamily="34" charset="-120"/>
              </a:rPr>
              <a:t>to save a stall</a:t>
            </a:r>
            <a:endParaRPr lang="en-US" sz="1500" dirty="0"/>
          </a:p>
        </p:txBody>
      </p:sp>
      <p:sp>
        <p:nvSpPr>
          <p:cNvPr id="9" name="Shape 7"/>
          <p:cNvSpPr/>
          <p:nvPr/>
        </p:nvSpPr>
        <p:spPr>
          <a:xfrm>
            <a:off x="5586984" y="1901952"/>
            <a:ext cx="4389120" cy="2606040"/>
          </a:xfrm>
          <a:prstGeom prst="roundRect">
            <a:avLst/>
          </a:prstGeom>
          <a:solidFill>
            <a:srgbClr val="EAD8D1"/>
          </a:solidFill>
          <a:ln w="12700">
            <a:solidFill>
              <a:srgbClr val="EAD8D1">
                <a:alpha val="0"/>
              </a:srgbClr>
            </a:solidFill>
            <a:prstDash val="solid"/>
          </a:ln>
        </p:spPr>
      </p:sp>
      <p:sp>
        <p:nvSpPr>
          <p:cNvPr id="10" name="Shape 8"/>
          <p:cNvSpPr/>
          <p:nvPr/>
        </p:nvSpPr>
        <p:spPr>
          <a:xfrm>
            <a:off x="5532120" y="1828800"/>
            <a:ext cx="4389120" cy="2606040"/>
          </a:xfrm>
          <a:prstGeom prst="roundRect">
            <a:avLst/>
          </a:prstGeom>
          <a:solidFill>
            <a:srgbClr val="FFFFFF"/>
          </a:solidFill>
          <a:ln w="12700">
            <a:solidFill>
              <a:srgbClr val="FFFFFF">
                <a:alpha val="0"/>
              </a:srgbClr>
            </a:solidFill>
            <a:prstDash val="solid"/>
          </a:ln>
        </p:spPr>
      </p:sp>
      <p:sp>
        <p:nvSpPr>
          <p:cNvPr id="11" name="Text 9"/>
          <p:cNvSpPr/>
          <p:nvPr/>
        </p:nvSpPr>
        <p:spPr>
          <a:xfrm>
            <a:off x="5696712" y="2011680"/>
            <a:ext cx="4059936" cy="228600"/>
          </a:xfrm>
          <a:prstGeom prst="rect">
            <a:avLst/>
          </a:prstGeom>
          <a:noFill/>
          <a:ln/>
        </p:spPr>
        <p:txBody>
          <a:bodyPr wrap="square" lIns="0" tIns="0" rIns="0" bIns="0" rtlCol="0" anchor="ctr"/>
          <a:lstStyle/>
          <a:p>
            <a:pPr indent="0" marL="0">
              <a:buNone/>
            </a:pPr>
            <a:r>
              <a:rPr lang="en-US" sz="1500" b="1" dirty="0">
                <a:solidFill>
                  <a:srgbClr val="1F1F1F"/>
                </a:solidFill>
                <a:latin typeface="Inter" pitchFamily="34" charset="0"/>
                <a:ea typeface="Inter" pitchFamily="34" charset="-122"/>
                <a:cs typeface="Inter" pitchFamily="34" charset="-120"/>
              </a:rPr>
              <a:t>Your profile</a:t>
            </a:r>
            <a:endParaRPr lang="en-US" sz="1500" dirty="0"/>
          </a:p>
        </p:txBody>
      </p:sp>
      <p:sp>
        <p:nvSpPr>
          <p:cNvPr id="12" name="Text 10"/>
          <p:cNvSpPr/>
          <p:nvPr/>
        </p:nvSpPr>
        <p:spPr>
          <a:xfrm>
            <a:off x="5696712" y="2350008"/>
            <a:ext cx="4059936" cy="1984248"/>
          </a:xfrm>
          <a:prstGeom prst="rect">
            <a:avLst/>
          </a:prstGeom>
          <a:noFill/>
          <a:ln/>
        </p:spPr>
        <p:txBody>
          <a:bodyPr wrap="square" lIns="0" tIns="0" rIns="0" bIns="0" rtlCol="0" anchor="ctr"/>
          <a:lstStyle/>
          <a:p>
            <a:pPr indent="0" marL="0">
              <a:buNone/>
            </a:pPr>
            <a:r>
              <a:rPr lang="en-US" sz="1100" dirty="0">
                <a:solidFill>
                  <a:srgbClr val="747474"/>
                </a:solidFill>
                <a:latin typeface="Inter" pitchFamily="34" charset="0"/>
                <a:ea typeface="Inter" pitchFamily="34" charset="-122"/>
                <a:cs typeface="Inter" pitchFamily="34" charset="-120"/>
              </a:rPr>
              <a:t>Name</a:t>
            </a:r>
            <a:endParaRPr lang="en-US" sz="1100" dirty="0"/>
          </a:p>
          <a:p>
            <a:pPr indent="0" marL="0">
              <a:buNone/>
            </a:pPr>
            <a:r>
              <a:rPr lang="en-US" sz="1100" dirty="0">
                <a:solidFill>
                  <a:srgbClr val="747474"/>
                </a:solidFill>
                <a:latin typeface="Inter" pitchFamily="34" charset="0"/>
                <a:ea typeface="Inter" pitchFamily="34" charset="-122"/>
                <a:cs typeface="Inter" pitchFamily="34" charset="-120"/>
              </a:rPr>
              <a:t>Email</a:t>
            </a:r>
            <a:endParaRPr lang="en-US" sz="1100" dirty="0"/>
          </a:p>
          <a:p>
            <a:pPr indent="0" marL="0">
              <a:buNone/>
            </a:pPr>
            <a:r>
              <a:rPr lang="en-US" sz="1100" dirty="0">
                <a:solidFill>
                  <a:srgbClr val="747474"/>
                </a:solidFill>
                <a:latin typeface="Inter" pitchFamily="34" charset="0"/>
                <a:ea typeface="Inter" pitchFamily="34" charset="-122"/>
                <a:cs typeface="Inter" pitchFamily="34" charset="-120"/>
              </a:rPr>
              <a:t>Phone</a:t>
            </a:r>
            <a:endParaRPr lang="en-US" sz="1100" dirty="0"/>
          </a:p>
        </p:txBody>
      </p:sp>
      <p:sp>
        <p:nvSpPr>
          <p:cNvPr id="13" name="Shape 11"/>
          <p:cNvSpPr/>
          <p:nvPr/>
        </p:nvSpPr>
        <p:spPr>
          <a:xfrm>
            <a:off x="8275320" y="3977640"/>
            <a:ext cx="1097280" cy="292608"/>
          </a:xfrm>
          <a:prstGeom prst="roundRect">
            <a:avLst/>
          </a:prstGeom>
          <a:solidFill>
            <a:srgbClr val="1F1F1F"/>
          </a:solidFill>
          <a:ln w="12700">
            <a:solidFill>
              <a:srgbClr val="1F1F1F">
                <a:alpha val="0"/>
              </a:srgbClr>
            </a:solidFill>
            <a:prstDash val="solid"/>
          </a:ln>
        </p:spPr>
      </p:sp>
      <p:sp>
        <p:nvSpPr>
          <p:cNvPr id="14" name="Text 12"/>
          <p:cNvSpPr/>
          <p:nvPr/>
        </p:nvSpPr>
        <p:spPr>
          <a:xfrm>
            <a:off x="8275320" y="4027932"/>
            <a:ext cx="109728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LOG OUT</a:t>
            </a:r>
            <a:endParaRPr lang="en-US" sz="900" dirty="0"/>
          </a:p>
        </p:txBody>
      </p:sp>
      <p:sp>
        <p:nvSpPr>
          <p:cNvPr id="15" name="Text 13"/>
          <p:cNvSpPr/>
          <p:nvPr/>
        </p:nvSpPr>
        <p:spPr>
          <a:xfrm>
            <a:off x="5715000" y="4754880"/>
            <a:ext cx="3474720" cy="201168"/>
          </a:xfrm>
          <a:prstGeom prst="rect">
            <a:avLst/>
          </a:prstGeom>
          <a:noFill/>
          <a:ln/>
        </p:spPr>
        <p:txBody>
          <a:bodyPr wrap="square" lIns="0" tIns="0" rIns="0" bIns="0" rtlCol="0" anchor="ctr"/>
          <a:lstStyle/>
          <a:p>
            <a:pPr indent="0" marL="0">
              <a:buNone/>
            </a:pPr>
            <a:r>
              <a:rPr lang="en-US" sz="1400" b="1" dirty="0">
                <a:solidFill>
                  <a:srgbClr val="747474"/>
                </a:solidFill>
                <a:latin typeface="Inter" pitchFamily="34" charset="0"/>
                <a:ea typeface="Inter" pitchFamily="34" charset="-122"/>
                <a:cs typeface="Inter" pitchFamily="34" charset="-120"/>
              </a:rPr>
              <a:t>Saved stalls live in Favorites</a:t>
            </a:r>
            <a:endParaRPr lang="en-US" sz="1400" dirty="0"/>
          </a:p>
        </p:txBody>
      </p:sp>
      <p:sp>
        <p:nvSpPr>
          <p:cNvPr id="16" name="Shape 14"/>
          <p:cNvSpPr/>
          <p:nvPr/>
        </p:nvSpPr>
        <p:spPr>
          <a:xfrm>
            <a:off x="594360" y="6044184"/>
            <a:ext cx="10972800" cy="13716"/>
          </a:xfrm>
          <a:prstGeom prst="rect">
            <a:avLst/>
          </a:prstGeom>
          <a:solidFill>
            <a:srgbClr val="F0DED6"/>
          </a:solidFill>
          <a:ln w="12700">
            <a:solidFill>
              <a:srgbClr val="F0DED6">
                <a:alpha val="0"/>
              </a:srgbClr>
            </a:solidFill>
            <a:prstDash val="solid"/>
          </a:ln>
        </p:spPr>
      </p:sp>
      <p:sp>
        <p:nvSpPr>
          <p:cNvPr id="17" name="Text 15"/>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747474"/>
                </a:solidFill>
                <a:latin typeface="Inter" pitchFamily="34" charset="0"/>
                <a:ea typeface="Inter" pitchFamily="34" charset="-122"/>
                <a:cs typeface="Inter" pitchFamily="34" charset="-120"/>
              </a:rPr>
              <a:t>VendrGo</a:t>
            </a:r>
            <a:endParaRPr lang="en-US" sz="1100" dirty="0"/>
          </a:p>
        </p:txBody>
      </p:sp>
      <p:sp>
        <p:nvSpPr>
          <p:cNvPr id="18" name="Text 16"/>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747474"/>
                </a:solidFill>
                <a:latin typeface="Inter" pitchFamily="34" charset="0"/>
                <a:ea typeface="Inter" pitchFamily="34" charset="-122"/>
                <a:cs typeface="Inter"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6B35"/>
        </a:solidFill>
      </p:bgPr>
    </p:bg>
    <p:spTree>
      <p:nvGrpSpPr>
        <p:cNvPr id="1" name=""/>
        <p:cNvGrpSpPr/>
        <p:nvPr/>
      </p:nvGrpSpPr>
      <p:grpSpPr>
        <a:xfrm>
          <a:off x="0" y="0"/>
          <a:ext cx="0" cy="0"/>
          <a:chOff x="0" y="0"/>
          <a:chExt cx="0" cy="0"/>
        </a:xfrm>
      </p:grpSpPr>
      <p:sp>
        <p:nvSpPr>
          <p:cNvPr id="2" name="Text 0"/>
          <p:cNvSpPr/>
          <p:nvPr/>
        </p:nvSpPr>
        <p:spPr>
          <a:xfrm>
            <a:off x="594360" y="868680"/>
            <a:ext cx="7315200" cy="502920"/>
          </a:xfrm>
          <a:prstGeom prst="rect">
            <a:avLst/>
          </a:prstGeom>
          <a:noFill/>
          <a:ln/>
        </p:spPr>
        <p:txBody>
          <a:bodyPr wrap="square" lIns="0" tIns="0" rIns="0" bIns="0" rtlCol="0" anchor="ctr"/>
          <a:lstStyle/>
          <a:p>
            <a:pPr indent="0" marL="0">
              <a:buNone/>
            </a:pPr>
            <a:r>
              <a:rPr lang="en-US" sz="3300" b="1" dirty="0">
                <a:solidFill>
                  <a:srgbClr val="FFFFFF"/>
                </a:solidFill>
                <a:latin typeface="Inter" pitchFamily="34" charset="0"/>
                <a:ea typeface="Inter" pitchFamily="34" charset="-122"/>
                <a:cs typeface="Inter" pitchFamily="34" charset="-120"/>
              </a:rPr>
              <a:t>The street-food shortcut.</a:t>
            </a:r>
            <a:endParaRPr lang="en-US" sz="3300" dirty="0"/>
          </a:p>
        </p:txBody>
      </p:sp>
      <p:sp>
        <p:nvSpPr>
          <p:cNvPr id="3" name="Text 1"/>
          <p:cNvSpPr/>
          <p:nvPr/>
        </p:nvSpPr>
        <p:spPr>
          <a:xfrm>
            <a:off x="594360" y="1399032"/>
            <a:ext cx="7315200" cy="201168"/>
          </a:xfrm>
          <a:prstGeom prst="rect">
            <a:avLst/>
          </a:prstGeom>
          <a:noFill/>
          <a:ln/>
        </p:spPr>
        <p:txBody>
          <a:bodyPr wrap="square" lIns="0" tIns="0" rIns="0" bIns="0" rtlCol="0" anchor="ctr"/>
          <a:lstStyle/>
          <a:p>
            <a:pPr indent="0" marL="0">
              <a:buNone/>
            </a:pPr>
            <a:r>
              <a:rPr lang="en-US" sz="1200" dirty="0">
                <a:solidFill>
                  <a:srgbClr val="FFE0D0"/>
                </a:solidFill>
                <a:latin typeface="Inter" pitchFamily="34" charset="0"/>
                <a:ea typeface="Inter" pitchFamily="34" charset="-122"/>
                <a:cs typeface="Inter" pitchFamily="34" charset="-120"/>
              </a:rPr>
              <a:t>One app. Three roles. A clearer local food scene.</a:t>
            </a:r>
            <a:endParaRPr lang="en-US" sz="1200" dirty="0"/>
          </a:p>
        </p:txBody>
      </p:sp>
      <p:sp>
        <p:nvSpPr>
          <p:cNvPr id="4" name="Shape 2"/>
          <p:cNvSpPr/>
          <p:nvPr/>
        </p:nvSpPr>
        <p:spPr>
          <a:xfrm>
            <a:off x="594360" y="2240280"/>
            <a:ext cx="2423160" cy="1920240"/>
          </a:xfrm>
          <a:prstGeom prst="roundRect">
            <a:avLst/>
          </a:prstGeom>
          <a:solidFill>
            <a:srgbClr val="FFFFFF"/>
          </a:solidFill>
          <a:ln w="12700">
            <a:solidFill>
              <a:srgbClr val="FFFFFF">
                <a:alpha val="0"/>
              </a:srgbClr>
            </a:solidFill>
            <a:prstDash val="solid"/>
          </a:ln>
        </p:spPr>
      </p:sp>
      <p:sp>
        <p:nvSpPr>
          <p:cNvPr id="5" name="Shape 3"/>
          <p:cNvSpPr/>
          <p:nvPr/>
        </p:nvSpPr>
        <p:spPr>
          <a:xfrm>
            <a:off x="822960" y="2523744"/>
            <a:ext cx="384048" cy="384048"/>
          </a:xfrm>
          <a:prstGeom prst="ellipse">
            <a:avLst/>
          </a:prstGeom>
          <a:solidFill>
            <a:srgbClr val="178B52"/>
          </a:solidFill>
          <a:ln w="12700">
            <a:solidFill>
              <a:srgbClr val="178B52">
                <a:alpha val="0"/>
              </a:srgbClr>
            </a:solidFill>
            <a:prstDash val="solid"/>
          </a:ln>
        </p:spPr>
      </p:sp>
      <p:sp>
        <p:nvSpPr>
          <p:cNvPr id="6" name="Text 4"/>
          <p:cNvSpPr/>
          <p:nvPr/>
        </p:nvSpPr>
        <p:spPr>
          <a:xfrm>
            <a:off x="822960" y="3145536"/>
            <a:ext cx="1965960" cy="201168"/>
          </a:xfrm>
          <a:prstGeom prst="rect">
            <a:avLst/>
          </a:prstGeom>
          <a:noFill/>
          <a:ln/>
        </p:spPr>
        <p:txBody>
          <a:bodyPr wrap="square" lIns="0" tIns="0" rIns="0" bIns="0" rtlCol="0" anchor="ctr"/>
          <a:lstStyle/>
          <a:p>
            <a:pPr indent="0" marL="0">
              <a:buNone/>
            </a:pPr>
            <a:r>
              <a:rPr lang="en-US" sz="1600" b="1" dirty="0">
                <a:solidFill>
                  <a:srgbClr val="1F1F1F"/>
                </a:solidFill>
                <a:latin typeface="Inter" pitchFamily="34" charset="0"/>
                <a:ea typeface="Inter" pitchFamily="34" charset="-122"/>
                <a:cs typeface="Inter" pitchFamily="34" charset="-120"/>
              </a:rPr>
              <a:t>Customers</a:t>
            </a:r>
            <a:endParaRPr lang="en-US" sz="1600" dirty="0"/>
          </a:p>
        </p:txBody>
      </p:sp>
      <p:sp>
        <p:nvSpPr>
          <p:cNvPr id="7" name="Text 5"/>
          <p:cNvSpPr/>
          <p:nvPr/>
        </p:nvSpPr>
        <p:spPr>
          <a:xfrm>
            <a:off x="822960" y="3529584"/>
            <a:ext cx="1920240" cy="420624"/>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Find open stalls fast</a:t>
            </a:r>
            <a:endParaRPr lang="en-US" sz="1200" dirty="0"/>
          </a:p>
        </p:txBody>
      </p:sp>
      <p:sp>
        <p:nvSpPr>
          <p:cNvPr id="8" name="Shape 6"/>
          <p:cNvSpPr/>
          <p:nvPr/>
        </p:nvSpPr>
        <p:spPr>
          <a:xfrm>
            <a:off x="3383280" y="2240280"/>
            <a:ext cx="2423160" cy="1920240"/>
          </a:xfrm>
          <a:prstGeom prst="roundRect">
            <a:avLst/>
          </a:prstGeom>
          <a:solidFill>
            <a:srgbClr val="FFFFFF"/>
          </a:solidFill>
          <a:ln w="12700">
            <a:solidFill>
              <a:srgbClr val="FFFFFF">
                <a:alpha val="0"/>
              </a:srgbClr>
            </a:solidFill>
            <a:prstDash val="solid"/>
          </a:ln>
        </p:spPr>
      </p:sp>
      <p:sp>
        <p:nvSpPr>
          <p:cNvPr id="9" name="Shape 7"/>
          <p:cNvSpPr/>
          <p:nvPr/>
        </p:nvSpPr>
        <p:spPr>
          <a:xfrm>
            <a:off x="3611880" y="2523744"/>
            <a:ext cx="384048" cy="384048"/>
          </a:xfrm>
          <a:prstGeom prst="ellipse">
            <a:avLst/>
          </a:prstGeom>
          <a:solidFill>
            <a:srgbClr val="FFFFFF"/>
          </a:solidFill>
          <a:ln w="12700">
            <a:solidFill>
              <a:srgbClr val="FFFFFF">
                <a:alpha val="0"/>
              </a:srgbClr>
            </a:solidFill>
            <a:prstDash val="solid"/>
          </a:ln>
        </p:spPr>
      </p:sp>
      <p:sp>
        <p:nvSpPr>
          <p:cNvPr id="10" name="Text 8"/>
          <p:cNvSpPr/>
          <p:nvPr/>
        </p:nvSpPr>
        <p:spPr>
          <a:xfrm>
            <a:off x="3611880" y="3145536"/>
            <a:ext cx="1965960" cy="201168"/>
          </a:xfrm>
          <a:prstGeom prst="rect">
            <a:avLst/>
          </a:prstGeom>
          <a:noFill/>
          <a:ln/>
        </p:spPr>
        <p:txBody>
          <a:bodyPr wrap="square" lIns="0" tIns="0" rIns="0" bIns="0" rtlCol="0" anchor="ctr"/>
          <a:lstStyle/>
          <a:p>
            <a:pPr indent="0" marL="0">
              <a:buNone/>
            </a:pPr>
            <a:r>
              <a:rPr lang="en-US" sz="1600" b="1" dirty="0">
                <a:solidFill>
                  <a:srgbClr val="1F1F1F"/>
                </a:solidFill>
                <a:latin typeface="Inter" pitchFamily="34" charset="0"/>
                <a:ea typeface="Inter" pitchFamily="34" charset="-122"/>
                <a:cs typeface="Inter" pitchFamily="34" charset="-120"/>
              </a:rPr>
              <a:t>Vendors</a:t>
            </a:r>
            <a:endParaRPr lang="en-US" sz="1600" dirty="0"/>
          </a:p>
        </p:txBody>
      </p:sp>
      <p:sp>
        <p:nvSpPr>
          <p:cNvPr id="11" name="Text 9"/>
          <p:cNvSpPr/>
          <p:nvPr/>
        </p:nvSpPr>
        <p:spPr>
          <a:xfrm>
            <a:off x="3611880" y="3529584"/>
            <a:ext cx="1920240" cy="420624"/>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Get discovered</a:t>
            </a:r>
            <a:endParaRPr lang="en-US" sz="1200" dirty="0"/>
          </a:p>
          <a:p>
            <a:pPr indent="0" marL="0">
              <a:buNone/>
            </a:pPr>
            <a:r>
              <a:rPr lang="en-US" sz="1200" dirty="0">
                <a:solidFill>
                  <a:srgbClr val="747474"/>
                </a:solidFill>
                <a:latin typeface="Inter" pitchFamily="34" charset="0"/>
                <a:ea typeface="Inter" pitchFamily="34" charset="-122"/>
                <a:cs typeface="Inter" pitchFamily="34" charset="-120"/>
              </a:rPr>
              <a:t>Control your status</a:t>
            </a:r>
            <a:endParaRPr lang="en-US" sz="1200" dirty="0"/>
          </a:p>
        </p:txBody>
      </p:sp>
      <p:sp>
        <p:nvSpPr>
          <p:cNvPr id="12" name="Shape 10"/>
          <p:cNvSpPr/>
          <p:nvPr/>
        </p:nvSpPr>
        <p:spPr>
          <a:xfrm>
            <a:off x="6172200" y="2240280"/>
            <a:ext cx="2423160" cy="1920240"/>
          </a:xfrm>
          <a:prstGeom prst="roundRect">
            <a:avLst/>
          </a:prstGeom>
          <a:solidFill>
            <a:srgbClr val="FFFFFF"/>
          </a:solidFill>
          <a:ln w="12700">
            <a:solidFill>
              <a:srgbClr val="FFFFFF">
                <a:alpha val="0"/>
              </a:srgbClr>
            </a:solidFill>
            <a:prstDash val="solid"/>
          </a:ln>
        </p:spPr>
      </p:sp>
      <p:sp>
        <p:nvSpPr>
          <p:cNvPr id="13" name="Shape 11"/>
          <p:cNvSpPr/>
          <p:nvPr/>
        </p:nvSpPr>
        <p:spPr>
          <a:xfrm>
            <a:off x="6400800" y="2523744"/>
            <a:ext cx="384048" cy="384048"/>
          </a:xfrm>
          <a:prstGeom prst="ellipse">
            <a:avLst/>
          </a:prstGeom>
          <a:solidFill>
            <a:srgbClr val="1F1F1F"/>
          </a:solidFill>
          <a:ln w="12700">
            <a:solidFill>
              <a:srgbClr val="1F1F1F">
                <a:alpha val="0"/>
              </a:srgbClr>
            </a:solidFill>
            <a:prstDash val="solid"/>
          </a:ln>
        </p:spPr>
      </p:sp>
      <p:sp>
        <p:nvSpPr>
          <p:cNvPr id="14" name="Text 12"/>
          <p:cNvSpPr/>
          <p:nvPr/>
        </p:nvSpPr>
        <p:spPr>
          <a:xfrm>
            <a:off x="6400800" y="3145536"/>
            <a:ext cx="1965960" cy="201168"/>
          </a:xfrm>
          <a:prstGeom prst="rect">
            <a:avLst/>
          </a:prstGeom>
          <a:noFill/>
          <a:ln/>
        </p:spPr>
        <p:txBody>
          <a:bodyPr wrap="square" lIns="0" tIns="0" rIns="0" bIns="0" rtlCol="0" anchor="ctr"/>
          <a:lstStyle/>
          <a:p>
            <a:pPr indent="0" marL="0">
              <a:buNone/>
            </a:pPr>
            <a:r>
              <a:rPr lang="en-US" sz="1600" b="1" dirty="0">
                <a:solidFill>
                  <a:srgbClr val="1F1F1F"/>
                </a:solidFill>
                <a:latin typeface="Inter" pitchFamily="34" charset="0"/>
                <a:ea typeface="Inter" pitchFamily="34" charset="-122"/>
                <a:cs typeface="Inter" pitchFamily="34" charset="-120"/>
              </a:rPr>
              <a:t>Admins</a:t>
            </a:r>
            <a:endParaRPr lang="en-US" sz="1600" dirty="0"/>
          </a:p>
        </p:txBody>
      </p:sp>
      <p:sp>
        <p:nvSpPr>
          <p:cNvPr id="15" name="Text 13"/>
          <p:cNvSpPr/>
          <p:nvPr/>
        </p:nvSpPr>
        <p:spPr>
          <a:xfrm>
            <a:off x="6400800" y="3529584"/>
            <a:ext cx="1920240" cy="420624"/>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Keep quality high</a:t>
            </a:r>
            <a:endParaRPr lang="en-US" sz="1200" dirty="0"/>
          </a:p>
        </p:txBody>
      </p:sp>
      <p:sp>
        <p:nvSpPr>
          <p:cNvPr id="16" name="Shape 14"/>
          <p:cNvSpPr/>
          <p:nvPr/>
        </p:nvSpPr>
        <p:spPr>
          <a:xfrm>
            <a:off x="8961120" y="2240280"/>
            <a:ext cx="2423160" cy="1920240"/>
          </a:xfrm>
          <a:prstGeom prst="roundRect">
            <a:avLst/>
          </a:prstGeom>
          <a:solidFill>
            <a:srgbClr val="FFFFFF"/>
          </a:solidFill>
          <a:ln w="12700">
            <a:solidFill>
              <a:srgbClr val="FFFFFF">
                <a:alpha val="0"/>
              </a:srgbClr>
            </a:solidFill>
            <a:prstDash val="solid"/>
          </a:ln>
        </p:spPr>
      </p:sp>
      <p:sp>
        <p:nvSpPr>
          <p:cNvPr id="17" name="Shape 15"/>
          <p:cNvSpPr/>
          <p:nvPr/>
        </p:nvSpPr>
        <p:spPr>
          <a:xfrm>
            <a:off x="9189720" y="2523744"/>
            <a:ext cx="384048" cy="384048"/>
          </a:xfrm>
          <a:prstGeom prst="ellipse">
            <a:avLst/>
          </a:prstGeom>
          <a:solidFill>
            <a:srgbClr val="CC4009"/>
          </a:solidFill>
          <a:ln w="12700">
            <a:solidFill>
              <a:srgbClr val="CC4009">
                <a:alpha val="0"/>
              </a:srgbClr>
            </a:solidFill>
            <a:prstDash val="solid"/>
          </a:ln>
        </p:spPr>
      </p:sp>
      <p:sp>
        <p:nvSpPr>
          <p:cNvPr id="18" name="Text 16"/>
          <p:cNvSpPr/>
          <p:nvPr/>
        </p:nvSpPr>
        <p:spPr>
          <a:xfrm>
            <a:off x="9189720" y="3145536"/>
            <a:ext cx="1965960" cy="201168"/>
          </a:xfrm>
          <a:prstGeom prst="rect">
            <a:avLst/>
          </a:prstGeom>
          <a:noFill/>
          <a:ln/>
        </p:spPr>
        <p:txBody>
          <a:bodyPr wrap="square" lIns="0" tIns="0" rIns="0" bIns="0" rtlCol="0" anchor="ctr"/>
          <a:lstStyle/>
          <a:p>
            <a:pPr indent="0" marL="0">
              <a:buNone/>
            </a:pPr>
            <a:r>
              <a:rPr lang="en-US" sz="1600" b="1" dirty="0">
                <a:solidFill>
                  <a:srgbClr val="1F1F1F"/>
                </a:solidFill>
                <a:latin typeface="Inter" pitchFamily="34" charset="0"/>
                <a:ea typeface="Inter" pitchFamily="34" charset="-122"/>
                <a:cs typeface="Inter" pitchFamily="34" charset="-120"/>
              </a:rPr>
              <a:t>Everyone</a:t>
            </a:r>
            <a:endParaRPr lang="en-US" sz="1600" dirty="0"/>
          </a:p>
        </p:txBody>
      </p:sp>
      <p:sp>
        <p:nvSpPr>
          <p:cNvPr id="19" name="Text 17"/>
          <p:cNvSpPr/>
          <p:nvPr/>
        </p:nvSpPr>
        <p:spPr>
          <a:xfrm>
            <a:off x="9189720" y="3529584"/>
            <a:ext cx="1920240" cy="420624"/>
          </a:xfrm>
          <a:prstGeom prst="rect">
            <a:avLst/>
          </a:prstGeom>
          <a:noFill/>
          <a:ln/>
        </p:spPr>
        <p:txBody>
          <a:bodyPr wrap="square" lIns="0" tIns="0" rIns="0" bIns="0" rtlCol="0" anchor="ctr"/>
          <a:lstStyle/>
          <a:p>
            <a:pPr indent="0" marL="0">
              <a:buNone/>
            </a:pPr>
            <a:r>
              <a:rPr lang="en-US" sz="1200" dirty="0">
                <a:solidFill>
                  <a:srgbClr val="747474"/>
                </a:solidFill>
                <a:latin typeface="Inter" pitchFamily="34" charset="0"/>
                <a:ea typeface="Inter" pitchFamily="34" charset="-122"/>
                <a:cs typeface="Inter" pitchFamily="34" charset="-120"/>
              </a:rPr>
              <a:t>Updates live</a:t>
            </a:r>
            <a:endParaRPr lang="en-US" sz="1200" dirty="0"/>
          </a:p>
        </p:txBody>
      </p:sp>
      <p:sp>
        <p:nvSpPr>
          <p:cNvPr id="20" name="Text 18"/>
          <p:cNvSpPr/>
          <p:nvPr/>
        </p:nvSpPr>
        <p:spPr>
          <a:xfrm>
            <a:off x="594360" y="4983480"/>
            <a:ext cx="7315200" cy="365760"/>
          </a:xfrm>
          <a:prstGeom prst="rect">
            <a:avLst/>
          </a:prstGeom>
          <a:noFill/>
          <a:ln/>
        </p:spPr>
        <p:txBody>
          <a:bodyPr wrap="square" lIns="0" tIns="0" rIns="0" bIns="0" rtlCol="0" anchor="ctr"/>
          <a:lstStyle/>
          <a:p>
            <a:pPr indent="0" marL="0">
              <a:buNone/>
            </a:pPr>
            <a:r>
              <a:rPr lang="en-US" sz="2500" b="1" dirty="0">
                <a:solidFill>
                  <a:srgbClr val="FFFFFF"/>
                </a:solidFill>
                <a:latin typeface="Inter" pitchFamily="34" charset="0"/>
                <a:ea typeface="Inter" pitchFamily="34" charset="-122"/>
                <a:cs typeface="Inter" pitchFamily="34" charset="-120"/>
              </a:rPr>
              <a:t>Find what's open near you.</a:t>
            </a:r>
            <a:endParaRPr lang="en-US" sz="2500" dirty="0"/>
          </a:p>
        </p:txBody>
      </p:sp>
      <p:sp>
        <p:nvSpPr>
          <p:cNvPr id="21" name="Shape 19"/>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22" name="Text 20"/>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23" name="Text 21"/>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1F1F"/>
        </a:solidFill>
      </p:bgPr>
    </p:bg>
    <p:spTree>
      <p:nvGrpSpPr>
        <p:cNvPr id="1" name=""/>
        <p:cNvGrpSpPr/>
        <p:nvPr/>
      </p:nvGrpSpPr>
      <p:grpSpPr>
        <a:xfrm>
          <a:off x="0" y="0"/>
          <a:ext cx="0" cy="0"/>
          <a:chOff x="0" y="0"/>
          <a:chExt cx="0" cy="0"/>
        </a:xfrm>
      </p:grpSpPr>
      <p:sp>
        <p:nvSpPr>
          <p:cNvPr id="2" name="Shape 0"/>
          <p:cNvSpPr/>
          <p:nvPr/>
        </p:nvSpPr>
        <p:spPr>
          <a:xfrm>
            <a:off x="8686800" y="-640080"/>
            <a:ext cx="4114800" cy="4114800"/>
          </a:xfrm>
          <a:prstGeom prst="ellipse">
            <a:avLst/>
          </a:prstGeom>
          <a:solidFill>
            <a:srgbClr val="CC4009"/>
          </a:solidFill>
          <a:ln w="12700">
            <a:solidFill>
              <a:srgbClr val="CC4009">
                <a:alpha val="0"/>
              </a:srgbClr>
            </a:solidFill>
            <a:prstDash val="solid"/>
          </a:ln>
        </p:spPr>
      </p:sp>
      <p:sp>
        <p:nvSpPr>
          <p:cNvPr id="3" name="Text 1"/>
          <p:cNvSpPr/>
          <p:nvPr/>
        </p:nvSpPr>
        <p:spPr>
          <a:xfrm>
            <a:off x="594360" y="1143000"/>
            <a:ext cx="5760720" cy="731520"/>
          </a:xfrm>
          <a:prstGeom prst="rect">
            <a:avLst/>
          </a:prstGeom>
          <a:noFill/>
          <a:ln/>
        </p:spPr>
        <p:txBody>
          <a:bodyPr wrap="square" lIns="0" tIns="0" rIns="0" bIns="0" rtlCol="0" anchor="ctr"/>
          <a:lstStyle/>
          <a:p>
            <a:pPr indent="0" marL="0">
              <a:buNone/>
            </a:pPr>
            <a:r>
              <a:rPr lang="en-US" sz="5300" b="1" dirty="0">
                <a:solidFill>
                  <a:srgbClr val="FFFFFF"/>
                </a:solidFill>
                <a:latin typeface="Inter" pitchFamily="34" charset="0"/>
                <a:ea typeface="Inter" pitchFamily="34" charset="-122"/>
                <a:cs typeface="Inter" pitchFamily="34" charset="-120"/>
              </a:rPr>
              <a:t>Thank you</a:t>
            </a:r>
            <a:endParaRPr lang="en-US" sz="5300" dirty="0"/>
          </a:p>
        </p:txBody>
      </p:sp>
      <p:sp>
        <p:nvSpPr>
          <p:cNvPr id="4" name="Text 2"/>
          <p:cNvSpPr/>
          <p:nvPr/>
        </p:nvSpPr>
        <p:spPr>
          <a:xfrm>
            <a:off x="640080" y="2057400"/>
            <a:ext cx="3657600" cy="411480"/>
          </a:xfrm>
          <a:prstGeom prst="rect">
            <a:avLst/>
          </a:prstGeom>
          <a:noFill/>
          <a:ln/>
        </p:spPr>
        <p:txBody>
          <a:bodyPr wrap="square" lIns="0" tIns="0" rIns="0" bIns="0" rtlCol="0" anchor="ctr"/>
          <a:lstStyle/>
          <a:p>
            <a:pPr indent="0" marL="0">
              <a:buNone/>
            </a:pPr>
            <a:r>
              <a:rPr lang="en-US" sz="2800" b="1" dirty="0">
                <a:solidFill>
                  <a:srgbClr val="FF6B35"/>
                </a:solidFill>
                <a:latin typeface="Inter" pitchFamily="34" charset="0"/>
                <a:ea typeface="Inter" pitchFamily="34" charset="-122"/>
                <a:cs typeface="Inter" pitchFamily="34" charset="-120"/>
              </a:rPr>
              <a:t>Questions?</a:t>
            </a:r>
            <a:endParaRPr lang="en-US" sz="2800" dirty="0"/>
          </a:p>
        </p:txBody>
      </p:sp>
      <p:sp>
        <p:nvSpPr>
          <p:cNvPr id="5" name="Text 3"/>
          <p:cNvSpPr/>
          <p:nvPr/>
        </p:nvSpPr>
        <p:spPr>
          <a:xfrm>
            <a:off x="640080" y="3703320"/>
            <a:ext cx="5212080" cy="201168"/>
          </a:xfrm>
          <a:prstGeom prst="rect">
            <a:avLst/>
          </a:prstGeom>
          <a:noFill/>
          <a:ln/>
        </p:spPr>
        <p:txBody>
          <a:bodyPr wrap="square" lIns="0" tIns="0" rIns="0" bIns="0" rtlCol="0" anchor="ctr"/>
          <a:lstStyle/>
          <a:p>
            <a:pPr indent="0" marL="0">
              <a:buNone/>
            </a:pPr>
            <a:r>
              <a:rPr lang="en-US" sz="1400" dirty="0">
                <a:solidFill>
                  <a:srgbClr val="FFFFFF"/>
                </a:solidFill>
                <a:latin typeface="Inter" pitchFamily="34" charset="0"/>
                <a:ea typeface="Inter" pitchFamily="34" charset="-122"/>
                <a:cs typeface="Inter" pitchFamily="34" charset="-120"/>
              </a:rPr>
              <a:t>[Student 1 Name]  [Roll No.]</a:t>
            </a:r>
            <a:endParaRPr lang="en-US" sz="1400" dirty="0"/>
          </a:p>
        </p:txBody>
      </p:sp>
      <p:sp>
        <p:nvSpPr>
          <p:cNvPr id="6" name="Text 4"/>
          <p:cNvSpPr/>
          <p:nvPr/>
        </p:nvSpPr>
        <p:spPr>
          <a:xfrm>
            <a:off x="640080" y="4050792"/>
            <a:ext cx="5212080" cy="201168"/>
          </a:xfrm>
          <a:prstGeom prst="rect">
            <a:avLst/>
          </a:prstGeom>
          <a:noFill/>
          <a:ln/>
        </p:spPr>
        <p:txBody>
          <a:bodyPr wrap="square" lIns="0" tIns="0" rIns="0" bIns="0" rtlCol="0" anchor="ctr"/>
          <a:lstStyle/>
          <a:p>
            <a:pPr indent="0" marL="0">
              <a:buNone/>
            </a:pPr>
            <a:r>
              <a:rPr lang="en-US" sz="1400" dirty="0">
                <a:solidFill>
                  <a:srgbClr val="FFFFFF"/>
                </a:solidFill>
                <a:latin typeface="Inter" pitchFamily="34" charset="0"/>
                <a:ea typeface="Inter" pitchFamily="34" charset="-122"/>
                <a:cs typeface="Inter" pitchFamily="34" charset="-120"/>
              </a:rPr>
              <a:t>[Student 2 Name]  [Roll No.]</a:t>
            </a:r>
            <a:endParaRPr lang="en-US" sz="1400" dirty="0"/>
          </a:p>
        </p:txBody>
      </p:sp>
      <p:sp>
        <p:nvSpPr>
          <p:cNvPr id="7" name="Text 5"/>
          <p:cNvSpPr/>
          <p:nvPr/>
        </p:nvSpPr>
        <p:spPr>
          <a:xfrm>
            <a:off x="640080" y="4398264"/>
            <a:ext cx="5212080" cy="201168"/>
          </a:xfrm>
          <a:prstGeom prst="rect">
            <a:avLst/>
          </a:prstGeom>
          <a:noFill/>
          <a:ln/>
        </p:spPr>
        <p:txBody>
          <a:bodyPr wrap="square" lIns="0" tIns="0" rIns="0" bIns="0" rtlCol="0" anchor="ctr"/>
          <a:lstStyle/>
          <a:p>
            <a:pPr indent="0" marL="0">
              <a:buNone/>
            </a:pPr>
            <a:r>
              <a:rPr lang="en-US" sz="1400" dirty="0">
                <a:solidFill>
                  <a:srgbClr val="FFFFFF"/>
                </a:solidFill>
                <a:latin typeface="Inter" pitchFamily="34" charset="0"/>
                <a:ea typeface="Inter" pitchFamily="34" charset="-122"/>
                <a:cs typeface="Inter" pitchFamily="34" charset="-120"/>
              </a:rPr>
              <a:t>[Student 3 Name]  [Roll No.]</a:t>
            </a:r>
            <a:endParaRPr lang="en-US" sz="1400" dirty="0"/>
          </a:p>
        </p:txBody>
      </p:sp>
      <p:sp>
        <p:nvSpPr>
          <p:cNvPr id="8" name="Text 6"/>
          <p:cNvSpPr/>
          <p:nvPr/>
        </p:nvSpPr>
        <p:spPr>
          <a:xfrm>
            <a:off x="640080" y="4745736"/>
            <a:ext cx="5212080" cy="201168"/>
          </a:xfrm>
          <a:prstGeom prst="rect">
            <a:avLst/>
          </a:prstGeom>
          <a:noFill/>
          <a:ln/>
        </p:spPr>
        <p:txBody>
          <a:bodyPr wrap="square" lIns="0" tIns="0" rIns="0" bIns="0" rtlCol="0" anchor="ctr"/>
          <a:lstStyle/>
          <a:p>
            <a:pPr indent="0" marL="0">
              <a:buNone/>
            </a:pPr>
            <a:r>
              <a:rPr lang="en-US" sz="1400" dirty="0">
                <a:solidFill>
                  <a:srgbClr val="FFFFFF"/>
                </a:solidFill>
                <a:latin typeface="Inter" pitchFamily="34" charset="0"/>
                <a:ea typeface="Inter" pitchFamily="34" charset="-122"/>
                <a:cs typeface="Inter" pitchFamily="34" charset="-120"/>
              </a:rPr>
              <a:t>[Student 4 Name]  [Roll No.]</a:t>
            </a:r>
            <a:endParaRPr lang="en-US" sz="1400" dirty="0"/>
          </a:p>
        </p:txBody>
      </p:sp>
      <p:sp>
        <p:nvSpPr>
          <p:cNvPr id="9" name="Shape 7"/>
          <p:cNvSpPr/>
          <p:nvPr/>
        </p:nvSpPr>
        <p:spPr>
          <a:xfrm>
            <a:off x="7955280" y="2011680"/>
            <a:ext cx="2560320" cy="1508760"/>
          </a:xfrm>
          <a:prstGeom prst="roundRect">
            <a:avLst/>
          </a:prstGeom>
          <a:solidFill>
            <a:srgbClr val="FFFFFF"/>
          </a:solidFill>
          <a:ln w="12700">
            <a:solidFill>
              <a:srgbClr val="FFFFFF">
                <a:alpha val="0"/>
              </a:srgbClr>
            </a:solidFill>
            <a:prstDash val="solid"/>
          </a:ln>
        </p:spPr>
      </p:sp>
      <p:sp>
        <p:nvSpPr>
          <p:cNvPr id="10" name="Text 8"/>
          <p:cNvSpPr/>
          <p:nvPr/>
        </p:nvSpPr>
        <p:spPr>
          <a:xfrm>
            <a:off x="8211312" y="2468880"/>
            <a:ext cx="2057400" cy="182880"/>
          </a:xfrm>
          <a:prstGeom prst="rect">
            <a:avLst/>
          </a:prstGeom>
          <a:noFill/>
          <a:ln/>
        </p:spPr>
        <p:txBody>
          <a:bodyPr wrap="square" lIns="0" tIns="0" rIns="0" bIns="0" rtlCol="0" anchor="ctr"/>
          <a:lstStyle/>
          <a:p>
            <a:pPr algn="ctr" indent="0" marL="0">
              <a:buNone/>
            </a:pPr>
            <a:r>
              <a:rPr lang="en-US" sz="1000" b="1" dirty="0">
                <a:solidFill>
                  <a:srgbClr val="747474"/>
                </a:solidFill>
                <a:latin typeface="Inter" pitchFamily="34" charset="0"/>
                <a:ea typeface="Inter" pitchFamily="34" charset="-122"/>
                <a:cs typeface="Inter" pitchFamily="34" charset="-120"/>
              </a:rPr>
              <a:t>COLLEGE LOGO</a:t>
            </a:r>
            <a:endParaRPr lang="en-US" sz="1000" dirty="0"/>
          </a:p>
        </p:txBody>
      </p:sp>
      <p:sp>
        <p:nvSpPr>
          <p:cNvPr id="11" name="Text 9"/>
          <p:cNvSpPr/>
          <p:nvPr/>
        </p:nvSpPr>
        <p:spPr>
          <a:xfrm>
            <a:off x="8138160" y="2834640"/>
            <a:ext cx="2194560" cy="182880"/>
          </a:xfrm>
          <a:prstGeom prst="rect">
            <a:avLst/>
          </a:prstGeom>
          <a:noFill/>
          <a:ln/>
        </p:spPr>
        <p:txBody>
          <a:bodyPr wrap="square" lIns="0" tIns="0" rIns="0" bIns="0" rtlCol="0" anchor="ctr"/>
          <a:lstStyle/>
          <a:p>
            <a:pPr algn="ctr" indent="0" marL="0">
              <a:buNone/>
            </a:pPr>
            <a:r>
              <a:rPr lang="en-US" sz="1000" b="1" dirty="0">
                <a:solidFill>
                  <a:srgbClr val="CC4009"/>
                </a:solidFill>
                <a:latin typeface="Inter" pitchFamily="34" charset="0"/>
                <a:ea typeface="Inter" pitchFamily="34" charset="-122"/>
                <a:cs typeface="Inter" pitchFamily="34" charset="-120"/>
              </a:rPr>
              <a:t>assets/college_logo.png</a:t>
            </a:r>
            <a:endParaRPr lang="en-US" sz="1000" dirty="0"/>
          </a:p>
        </p:txBody>
      </p:sp>
      <p:sp>
        <p:nvSpPr>
          <p:cNvPr id="12" name="Text 10"/>
          <p:cNvSpPr/>
          <p:nvPr/>
        </p:nvSpPr>
        <p:spPr>
          <a:xfrm>
            <a:off x="640080" y="5303520"/>
            <a:ext cx="4937760" cy="201168"/>
          </a:xfrm>
          <a:prstGeom prst="rect">
            <a:avLst/>
          </a:prstGeom>
          <a:noFill/>
          <a:ln/>
        </p:spPr>
        <p:txBody>
          <a:bodyPr wrap="square" lIns="0" tIns="0" rIns="0" bIns="0" rtlCol="0" anchor="ctr"/>
          <a:lstStyle/>
          <a:p>
            <a:pPr indent="0" marL="0">
              <a:buNone/>
            </a:pPr>
            <a:r>
              <a:rPr lang="en-US" sz="1200" dirty="0">
                <a:solidFill>
                  <a:srgbClr val="D6D6D6"/>
                </a:solidFill>
                <a:latin typeface="Inter" pitchFamily="34" charset="0"/>
                <a:ea typeface="Inter" pitchFamily="34" charset="-122"/>
                <a:cs typeface="Inter" pitchFamily="34" charset="-120"/>
              </a:rPr>
              <a:t>[College name]</a:t>
            </a:r>
            <a:endParaRPr lang="en-US" sz="1200" dirty="0"/>
          </a:p>
        </p:txBody>
      </p:sp>
      <p:sp>
        <p:nvSpPr>
          <p:cNvPr id="13" name="Shape 11"/>
          <p:cNvSpPr/>
          <p:nvPr/>
        </p:nvSpPr>
        <p:spPr>
          <a:xfrm>
            <a:off x="594360" y="6044184"/>
            <a:ext cx="10972800" cy="13716"/>
          </a:xfrm>
          <a:prstGeom prst="rect">
            <a:avLst/>
          </a:prstGeom>
          <a:solidFill>
            <a:srgbClr val="4A4A4A"/>
          </a:solidFill>
          <a:ln w="12700">
            <a:solidFill>
              <a:srgbClr val="4A4A4A">
                <a:alpha val="0"/>
              </a:srgbClr>
            </a:solidFill>
            <a:prstDash val="solid"/>
          </a:ln>
        </p:spPr>
      </p:sp>
      <p:sp>
        <p:nvSpPr>
          <p:cNvPr id="14" name="Text 12"/>
          <p:cNvSpPr/>
          <p:nvPr/>
        </p:nvSpPr>
        <p:spPr>
          <a:xfrm>
            <a:off x="594360" y="6190488"/>
            <a:ext cx="1371600" cy="182880"/>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VendrGo</a:t>
            </a:r>
            <a:endParaRPr lang="en-US" sz="1100" dirty="0"/>
          </a:p>
        </p:txBody>
      </p:sp>
      <p:sp>
        <p:nvSpPr>
          <p:cNvPr id="15" name="Text 13"/>
          <p:cNvSpPr/>
          <p:nvPr/>
        </p:nvSpPr>
        <p:spPr>
          <a:xfrm>
            <a:off x="10835640" y="6190488"/>
            <a:ext cx="731520" cy="182880"/>
          </a:xfrm>
          <a:prstGeom prst="rect">
            <a:avLst/>
          </a:prstGeom>
          <a:noFill/>
          <a:ln/>
        </p:spPr>
        <p:txBody>
          <a:bodyPr wrap="square" lIns="0" tIns="0" rIns="0" bIns="0" rtlCol="0" anchor="ctr"/>
          <a:lstStyle/>
          <a:p>
            <a:pPr algn="r" indent="0" marL="0">
              <a:buNone/>
            </a:pPr>
            <a:r>
              <a:rPr lang="en-US" sz="1100" b="1" dirty="0">
                <a:solidFill>
                  <a:srgbClr val="FFFFFF"/>
                </a:solidFill>
                <a:latin typeface="Inter" pitchFamily="34" charset="0"/>
                <a:ea typeface="Inter" pitchFamily="34" charset="-122"/>
                <a:cs typeface="Inter" pitchFamily="34" charset="-120"/>
              </a:rPr>
              <a:t>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VendrGo</dc:title>
  <dc:subject>PptxGenJS Presentation</dc:subject>
  <dc:creator>VendrGo</dc:creator>
  <cp:lastModifiedBy>VendrGo</cp:lastModifiedBy>
  <cp:revision>1</cp:revision>
  <dcterms:created xsi:type="dcterms:W3CDTF">2026-10-28T17:23:27Z</dcterms:created>
  <dcterms:modified xsi:type="dcterms:W3CDTF">2026-10-28T17:23:27Z</dcterms:modified>
</cp:coreProperties>
</file>